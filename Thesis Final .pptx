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18288000" cy="10287000"/>
  <p:notesSz cx="6858000" cy="9144000"/>
  <p:embeddedFontLst>
    <p:embeddedFont>
      <p:font typeface="Red Hat Display Bold" charset="1" panose="02010803040201060303"/>
      <p:regular r:id="rId47"/>
    </p:embeddedFont>
    <p:embeddedFont>
      <p:font typeface="Archivo Black" charset="1" panose="020B0A03020202020B04"/>
      <p:regular r:id="rId48"/>
    </p:embeddedFont>
    <p:embeddedFont>
      <p:font typeface="Canva Sans Bold" charset="1" panose="020B0803030501040103"/>
      <p:regular r:id="rId49"/>
    </p:embeddedFont>
    <p:embeddedFont>
      <p:font typeface="Red Hat Display" charset="1" panose="02010503040201060303"/>
      <p:regular r:id="rId50"/>
    </p:embeddedFont>
    <p:embeddedFont>
      <p:font typeface="Arimo Bold" charset="1" panose="020B0704020202020204"/>
      <p:regular r:id="rId51"/>
    </p:embeddedFont>
    <p:embeddedFont>
      <p:font typeface="Canva Sans Medium" charset="1" panose="020B0603030501040103"/>
      <p:regular r:id="rId52"/>
    </p:embeddedFont>
    <p:embeddedFont>
      <p:font typeface="Arimo" charset="1" panose="020B0604020202020204"/>
      <p:regular r:id="rId53"/>
    </p:embeddedFont>
    <p:embeddedFont>
      <p:font typeface="Calibri (MS)" charset="1" panose="020F0502020204030204"/>
      <p:regular r:id="rId54"/>
    </p:embeddedFont>
    <p:embeddedFont>
      <p:font typeface="Roboto" charset="1" panose="02000000000000000000"/>
      <p:regular r:id="rId5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8.pn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15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16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21.jpe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14" Target="../media/image24.svg" Type="http://schemas.openxmlformats.org/officeDocument/2006/relationships/image"/><Relationship Id="rId15" Target="../media/image25.jpeg" Type="http://schemas.openxmlformats.org/officeDocument/2006/relationships/image"/><Relationship Id="rId16" Target="../media/image26.jpeg" Type="http://schemas.openxmlformats.org/officeDocument/2006/relationships/image"/><Relationship Id="rId17" Target="../media/image27.png" Type="http://schemas.openxmlformats.org/officeDocument/2006/relationships/image"/><Relationship Id="rId18" Target="../media/image28.svg" Type="http://schemas.openxmlformats.org/officeDocument/2006/relationships/image"/><Relationship Id="rId19" Target="../media/image29.png" Type="http://schemas.openxmlformats.org/officeDocument/2006/relationships/image"/><Relationship Id="rId2" Target="../media/image9.png" Type="http://schemas.openxmlformats.org/officeDocument/2006/relationships/image"/><Relationship Id="rId20" Target="../media/image30.svg" Type="http://schemas.openxmlformats.org/officeDocument/2006/relationships/image"/><Relationship Id="rId21" Target="../media/image31.png" Type="http://schemas.openxmlformats.org/officeDocument/2006/relationships/image"/><Relationship Id="rId22" Target="../media/image32.svg" Type="http://schemas.openxmlformats.org/officeDocument/2006/relationships/image"/><Relationship Id="rId23" Target="../media/image33.jpeg" Type="http://schemas.openxmlformats.org/officeDocument/2006/relationships/image"/><Relationship Id="rId24" Target="../media/image34.jpeg" Type="http://schemas.openxmlformats.org/officeDocument/2006/relationships/image"/><Relationship Id="rId25" Target="../media/image35.jpeg" Type="http://schemas.openxmlformats.org/officeDocument/2006/relationships/image"/><Relationship Id="rId26" Target="../media/image36.png" Type="http://schemas.openxmlformats.org/officeDocument/2006/relationships/image"/><Relationship Id="rId27" Target="../media/image37.svg" Type="http://schemas.openxmlformats.org/officeDocument/2006/relationships/image"/><Relationship Id="rId28" Target="../media/image38.jpeg" Type="http://schemas.openxmlformats.org/officeDocument/2006/relationships/image"/><Relationship Id="rId29" Target="../media/image39.jpe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40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41.png" Type="http://schemas.openxmlformats.org/officeDocument/2006/relationships/image"/><Relationship Id="rId12" Target="../embeddings/oleObject1.bin" Type="http://schemas.openxmlformats.org/officeDocument/2006/relationships/oleObjec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2.bin" Type="http://schemas.openxmlformats.org/officeDocument/2006/relationships/oleObjec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46.png" Type="http://schemas.openxmlformats.org/officeDocument/2006/relationships/image"/><Relationship Id="rId12" Target="../media/image47.png" Type="http://schemas.openxmlformats.org/officeDocument/2006/relationships/image"/><Relationship Id="rId13" Target="../media/image48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49.png" Type="http://schemas.openxmlformats.org/officeDocument/2006/relationships/image"/><Relationship Id="rId12" Target="../embeddings/oleObject3.bin" Type="http://schemas.openxmlformats.org/officeDocument/2006/relationships/oleObjec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50.png" Type="http://schemas.openxmlformats.org/officeDocument/2006/relationships/image"/><Relationship Id="rId12" Target="../embeddings/oleObject4.bin" Type="http://schemas.openxmlformats.org/officeDocument/2006/relationships/oleObjec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51.png" Type="http://schemas.openxmlformats.org/officeDocument/2006/relationships/image"/><Relationship Id="rId12" Target="../embeddings/oleObject5.bin" Type="http://schemas.openxmlformats.org/officeDocument/2006/relationships/oleObjec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52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53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54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55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56.png" Type="http://schemas.openxmlformats.org/officeDocument/2006/relationships/image"/><Relationship Id="rId12" Target="../embeddings/oleObject6.bin" Type="http://schemas.openxmlformats.org/officeDocument/2006/relationships/oleObjec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59.png" Type="http://schemas.openxmlformats.org/officeDocument/2006/relationships/image"/><Relationship Id="rId12" Target="../media/image60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49139" y="6046888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5400000">
            <a:off x="16841024" y="8809224"/>
            <a:ext cx="2955552" cy="2955552"/>
          </a:xfrm>
          <a:custGeom>
            <a:avLst/>
            <a:gdLst/>
            <a:ahLst/>
            <a:cxnLst/>
            <a:rect r="r" b="b" t="t" l="l"/>
            <a:pathLst>
              <a:path h="2955552" w="2955552">
                <a:moveTo>
                  <a:pt x="0" y="0"/>
                </a:moveTo>
                <a:lnTo>
                  <a:pt x="2955552" y="0"/>
                </a:lnTo>
                <a:lnTo>
                  <a:pt x="2955552" y="2955552"/>
                </a:lnTo>
                <a:lnTo>
                  <a:pt x="0" y="2955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750055" y="119445"/>
            <a:ext cx="3993432" cy="1552343"/>
          </a:xfrm>
          <a:custGeom>
            <a:avLst/>
            <a:gdLst/>
            <a:ahLst/>
            <a:cxnLst/>
            <a:rect r="r" b="b" t="t" l="l"/>
            <a:pathLst>
              <a:path h="1552343" w="3993432">
                <a:moveTo>
                  <a:pt x="0" y="0"/>
                </a:moveTo>
                <a:lnTo>
                  <a:pt x="3993432" y="0"/>
                </a:lnTo>
                <a:lnTo>
                  <a:pt x="3993432" y="1552343"/>
                </a:lnTo>
                <a:lnTo>
                  <a:pt x="0" y="1552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112732" y="9782512"/>
            <a:ext cx="2062537" cy="296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30 January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9139" y="1995638"/>
            <a:ext cx="15646081" cy="1362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2"/>
              </a:lnSpc>
              <a:spcBef>
                <a:spcPct val="0"/>
              </a:spcBef>
            </a:pPr>
            <a:r>
              <a:rPr lang="en-US" sz="3937">
                <a:solidFill>
                  <a:srgbClr val="473D34"/>
                </a:solidFill>
                <a:latin typeface="Archivo Black"/>
                <a:ea typeface="Archivo Black"/>
                <a:cs typeface="Archivo Black"/>
                <a:sym typeface="Archivo Black"/>
              </a:rPr>
              <a:t>A Fede</a:t>
            </a:r>
            <a:r>
              <a:rPr lang="en-US" sz="3937">
                <a:solidFill>
                  <a:srgbClr val="473D34"/>
                </a:solidFill>
                <a:latin typeface="Archivo Black"/>
                <a:ea typeface="Archivo Black"/>
                <a:cs typeface="Archivo Black"/>
                <a:sym typeface="Archivo Black"/>
              </a:rPr>
              <a:t>rated Digital Twin Framework with Multimodal Data Integration for Personalized Healthcare Monitoring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40443" y="3710779"/>
            <a:ext cx="8294179" cy="1917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6"/>
              </a:lnSpc>
              <a:spcBef>
                <a:spcPct val="0"/>
              </a:spcBef>
            </a:pPr>
            <a:r>
              <a:rPr lang="en-US" b="true" sz="2726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The</a:t>
            </a:r>
            <a:r>
              <a:rPr lang="en-US" b="true" sz="2726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sis Defense</a:t>
            </a:r>
          </a:p>
          <a:p>
            <a:pPr algn="ctr">
              <a:lnSpc>
                <a:spcPts val="3816"/>
              </a:lnSpc>
              <a:spcBef>
                <a:spcPct val="0"/>
              </a:spcBef>
            </a:pPr>
            <a:r>
              <a:rPr lang="en-US" b="true" sz="2726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Fall 2025</a:t>
            </a:r>
          </a:p>
          <a:p>
            <a:pPr algn="ctr">
              <a:lnSpc>
                <a:spcPts val="3816"/>
              </a:lnSpc>
              <a:spcBef>
                <a:spcPct val="0"/>
              </a:spcBef>
            </a:pPr>
            <a:r>
              <a:rPr lang="en-US" b="true" sz="2726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Department of Computer Science and Engineering</a:t>
            </a:r>
          </a:p>
          <a:p>
            <a:pPr algn="ctr">
              <a:lnSpc>
                <a:spcPts val="3816"/>
              </a:lnSpc>
              <a:spcBef>
                <a:spcPct val="0"/>
              </a:spcBef>
            </a:pPr>
            <a:r>
              <a:rPr lang="en-US" b="true" sz="2726">
                <a:solidFill>
                  <a:srgbClr val="6EBE46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Green University of Bangladesh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7854" y="6418363"/>
            <a:ext cx="3908954" cy="157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409">
                <a:solidFill>
                  <a:srgbClr val="473D34"/>
                </a:solidFill>
                <a:latin typeface="Archivo Black"/>
                <a:ea typeface="Archivo Black"/>
                <a:cs typeface="Archivo Black"/>
                <a:sym typeface="Archivo Black"/>
              </a:rPr>
              <a:t>Group Members</a:t>
            </a:r>
          </a:p>
          <a:p>
            <a:pPr algn="l">
              <a:lnSpc>
                <a:spcPts val="3093"/>
              </a:lnSpc>
              <a:spcBef>
                <a:spcPct val="0"/>
              </a:spcBef>
            </a:pPr>
            <a:r>
              <a:rPr lang="en-US" b="true" sz="2209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Sourav Debnath (221902246)</a:t>
            </a:r>
          </a:p>
          <a:p>
            <a:pPr algn="l">
              <a:lnSpc>
                <a:spcPts val="3093"/>
              </a:lnSpc>
              <a:spcBef>
                <a:spcPct val="0"/>
              </a:spcBef>
            </a:pPr>
            <a:r>
              <a:rPr lang="en-US" b="true" sz="2209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Nur Hasan Hasib (221902247)</a:t>
            </a:r>
          </a:p>
          <a:p>
            <a:pPr algn="l">
              <a:lnSpc>
                <a:spcPts val="3093"/>
              </a:lnSpc>
              <a:spcBef>
                <a:spcPct val="0"/>
              </a:spcBef>
            </a:pPr>
            <a:r>
              <a:rPr lang="en-US" b="true" sz="2209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Sheak Fahad (221902274)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92080" y="6408838"/>
            <a:ext cx="6086608" cy="1172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0"/>
              </a:lnSpc>
              <a:spcBef>
                <a:spcPct val="0"/>
              </a:spcBef>
            </a:pPr>
            <a:r>
              <a:rPr lang="en-US" sz="2221">
                <a:solidFill>
                  <a:srgbClr val="473D34"/>
                </a:solidFill>
                <a:latin typeface="Archivo Black"/>
                <a:ea typeface="Archivo Black"/>
                <a:cs typeface="Archivo Black"/>
                <a:sym typeface="Archivo Black"/>
              </a:rPr>
              <a:t>Supe</a:t>
            </a:r>
            <a:r>
              <a:rPr lang="en-US" sz="2221">
                <a:solidFill>
                  <a:srgbClr val="473D34"/>
                </a:solidFill>
                <a:latin typeface="Archivo Black"/>
                <a:ea typeface="Archivo Black"/>
                <a:cs typeface="Archivo Black"/>
                <a:sym typeface="Archivo Black"/>
              </a:rPr>
              <a:t>rvisor</a:t>
            </a:r>
          </a:p>
          <a:p>
            <a:pPr algn="l">
              <a:lnSpc>
                <a:spcPts val="3110"/>
              </a:lnSpc>
              <a:spcBef>
                <a:spcPct val="0"/>
              </a:spcBef>
            </a:pPr>
            <a:r>
              <a:rPr lang="en-US" b="true" sz="222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Md.</a:t>
            </a:r>
            <a:r>
              <a:rPr lang="en-US" b="true" sz="222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Jahidul Islam</a:t>
            </a:r>
          </a:p>
          <a:p>
            <a:pPr algn="l">
              <a:lnSpc>
                <a:spcPts val="3110"/>
              </a:lnSpc>
              <a:spcBef>
                <a:spcPct val="0"/>
              </a:spcBef>
            </a:pPr>
            <a:r>
              <a:rPr lang="en-US" b="true" sz="222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Assistant Professor, Department of CSE, GUB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92080" y="8724845"/>
            <a:ext cx="6086608" cy="38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0"/>
              </a:lnSpc>
              <a:spcBef>
                <a:spcPct val="0"/>
              </a:spcBef>
            </a:pPr>
            <a:r>
              <a:rPr lang="en-US" b="true" sz="222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Assistant Professor, Department of CSE, GUB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92080" y="7933554"/>
            <a:ext cx="2502429" cy="78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0"/>
              </a:lnSpc>
              <a:spcBef>
                <a:spcPct val="0"/>
              </a:spcBef>
            </a:pPr>
            <a:r>
              <a:rPr lang="en-US" sz="2221">
                <a:solidFill>
                  <a:srgbClr val="473D34"/>
                </a:solidFill>
                <a:latin typeface="Archivo Black"/>
                <a:ea typeface="Archivo Black"/>
                <a:cs typeface="Archivo Black"/>
                <a:sym typeface="Archivo Black"/>
              </a:rPr>
              <a:t>Co-supe</a:t>
            </a:r>
            <a:r>
              <a:rPr lang="en-US" sz="2221">
                <a:solidFill>
                  <a:srgbClr val="473D34"/>
                </a:solidFill>
                <a:latin typeface="Archivo Black"/>
                <a:ea typeface="Archivo Black"/>
                <a:cs typeface="Archivo Black"/>
                <a:sym typeface="Archivo Black"/>
              </a:rPr>
              <a:t>rvisor</a:t>
            </a:r>
          </a:p>
          <a:p>
            <a:pPr algn="l">
              <a:lnSpc>
                <a:spcPts val="3110"/>
              </a:lnSpc>
              <a:spcBef>
                <a:spcPct val="0"/>
              </a:spcBef>
            </a:pPr>
            <a:r>
              <a:rPr lang="en-US" b="true" sz="222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Ms.</a:t>
            </a:r>
            <a:r>
              <a:rPr lang="en-US" b="true" sz="222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Shamima Islam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08702" y="3493895"/>
            <a:ext cx="1461378" cy="632583"/>
            <a:chOff x="0" y="0"/>
            <a:chExt cx="384890" cy="166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890" cy="166606"/>
            </a:xfrm>
            <a:custGeom>
              <a:avLst/>
              <a:gdLst/>
              <a:ahLst/>
              <a:cxnLst/>
              <a:rect r="r" b="b" t="t" l="l"/>
              <a:pathLst>
                <a:path h="166606" w="384890">
                  <a:moveTo>
                    <a:pt x="83303" y="0"/>
                  </a:moveTo>
                  <a:lnTo>
                    <a:pt x="301587" y="0"/>
                  </a:lnTo>
                  <a:cubicBezTo>
                    <a:pt x="323680" y="0"/>
                    <a:pt x="344868" y="8777"/>
                    <a:pt x="360491" y="24399"/>
                  </a:cubicBezTo>
                  <a:cubicBezTo>
                    <a:pt x="376113" y="40021"/>
                    <a:pt x="384890" y="61210"/>
                    <a:pt x="384890" y="83303"/>
                  </a:cubicBezTo>
                  <a:lnTo>
                    <a:pt x="384890" y="83303"/>
                  </a:lnTo>
                  <a:cubicBezTo>
                    <a:pt x="384890" y="129310"/>
                    <a:pt x="347594" y="166606"/>
                    <a:pt x="301587" y="166606"/>
                  </a:cubicBezTo>
                  <a:lnTo>
                    <a:pt x="83303" y="166606"/>
                  </a:lnTo>
                  <a:cubicBezTo>
                    <a:pt x="61210" y="166606"/>
                    <a:pt x="40021" y="157830"/>
                    <a:pt x="24399" y="142207"/>
                  </a:cubicBezTo>
                  <a:cubicBezTo>
                    <a:pt x="8777" y="126585"/>
                    <a:pt x="0" y="105397"/>
                    <a:pt x="0" y="83303"/>
                  </a:cubicBezTo>
                  <a:lnTo>
                    <a:pt x="0" y="83303"/>
                  </a:lnTo>
                  <a:cubicBezTo>
                    <a:pt x="0" y="61210"/>
                    <a:pt x="8777" y="40021"/>
                    <a:pt x="24399" y="24399"/>
                  </a:cubicBezTo>
                  <a:cubicBezTo>
                    <a:pt x="40021" y="8777"/>
                    <a:pt x="61210" y="0"/>
                    <a:pt x="83303" y="0"/>
                  </a:cubicBezTo>
                  <a:close/>
                </a:path>
              </a:pathLst>
            </a:custGeom>
            <a:solidFill>
              <a:srgbClr val="007B8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4890" cy="223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683647" y="3710100"/>
            <a:ext cx="1294988" cy="3282228"/>
          </a:xfrm>
          <a:custGeom>
            <a:avLst/>
            <a:gdLst/>
            <a:ahLst/>
            <a:cxnLst/>
            <a:rect r="r" b="b" t="t" l="l"/>
            <a:pathLst>
              <a:path h="3282228" w="1294988">
                <a:moveTo>
                  <a:pt x="0" y="0"/>
                </a:moveTo>
                <a:lnTo>
                  <a:pt x="1294988" y="0"/>
                </a:lnTo>
                <a:lnTo>
                  <a:pt x="1294988" y="3282228"/>
                </a:lnTo>
                <a:lnTo>
                  <a:pt x="0" y="3282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10800000">
            <a:off x="8884890" y="6904872"/>
            <a:ext cx="709003" cy="620378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9574" y="82378"/>
              <a:ext cx="693651" cy="628822"/>
            </a:xfrm>
            <a:custGeom>
              <a:avLst/>
              <a:gdLst/>
              <a:ahLst/>
              <a:cxnLst/>
              <a:rect r="r" b="b" t="t" l="l"/>
              <a:pathLst>
                <a:path h="628822" w="693651">
                  <a:moveTo>
                    <a:pt x="417254" y="40872"/>
                  </a:moveTo>
                  <a:lnTo>
                    <a:pt x="682798" y="505572"/>
                  </a:lnTo>
                  <a:cubicBezTo>
                    <a:pt x="697367" y="531069"/>
                    <a:pt x="697262" y="562393"/>
                    <a:pt x="682523" y="587792"/>
                  </a:cubicBezTo>
                  <a:cubicBezTo>
                    <a:pt x="667784" y="613190"/>
                    <a:pt x="640639" y="628822"/>
                    <a:pt x="611273" y="628822"/>
                  </a:cubicBezTo>
                  <a:lnTo>
                    <a:pt x="82379" y="628822"/>
                  </a:lnTo>
                  <a:cubicBezTo>
                    <a:pt x="53013" y="628822"/>
                    <a:pt x="25868" y="613190"/>
                    <a:pt x="11129" y="587792"/>
                  </a:cubicBezTo>
                  <a:cubicBezTo>
                    <a:pt x="-3610" y="562393"/>
                    <a:pt x="-3715" y="531069"/>
                    <a:pt x="10854" y="505572"/>
                  </a:cubicBezTo>
                  <a:lnTo>
                    <a:pt x="276398" y="40872"/>
                  </a:lnTo>
                  <a:cubicBezTo>
                    <a:pt x="290840" y="15598"/>
                    <a:pt x="317717" y="0"/>
                    <a:pt x="346826" y="0"/>
                  </a:cubicBezTo>
                  <a:cubicBezTo>
                    <a:pt x="375935" y="0"/>
                    <a:pt x="402812" y="15598"/>
                    <a:pt x="417254" y="4087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824400" y="3710100"/>
            <a:ext cx="2829983" cy="3282228"/>
            <a:chOff x="0" y="0"/>
            <a:chExt cx="745345" cy="8644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5345" cy="864455"/>
            </a:xfrm>
            <a:custGeom>
              <a:avLst/>
              <a:gdLst/>
              <a:ahLst/>
              <a:cxnLst/>
              <a:rect r="r" b="b" t="t" l="l"/>
              <a:pathLst>
                <a:path h="864455" w="745345">
                  <a:moveTo>
                    <a:pt x="54714" y="0"/>
                  </a:moveTo>
                  <a:lnTo>
                    <a:pt x="690632" y="0"/>
                  </a:lnTo>
                  <a:cubicBezTo>
                    <a:pt x="705143" y="0"/>
                    <a:pt x="719059" y="5764"/>
                    <a:pt x="729320" y="16025"/>
                  </a:cubicBezTo>
                  <a:cubicBezTo>
                    <a:pt x="739581" y="26286"/>
                    <a:pt x="745345" y="40203"/>
                    <a:pt x="745345" y="54714"/>
                  </a:cubicBezTo>
                  <a:lnTo>
                    <a:pt x="745345" y="809742"/>
                  </a:lnTo>
                  <a:cubicBezTo>
                    <a:pt x="745345" y="824252"/>
                    <a:pt x="739581" y="838169"/>
                    <a:pt x="729320" y="848430"/>
                  </a:cubicBezTo>
                  <a:cubicBezTo>
                    <a:pt x="719059" y="858691"/>
                    <a:pt x="705143" y="864455"/>
                    <a:pt x="690632" y="864455"/>
                  </a:cubicBezTo>
                  <a:lnTo>
                    <a:pt x="54714" y="864455"/>
                  </a:lnTo>
                  <a:cubicBezTo>
                    <a:pt x="40203" y="864455"/>
                    <a:pt x="26286" y="858691"/>
                    <a:pt x="16025" y="848430"/>
                  </a:cubicBezTo>
                  <a:cubicBezTo>
                    <a:pt x="5764" y="838169"/>
                    <a:pt x="0" y="824252"/>
                    <a:pt x="0" y="809742"/>
                  </a:cubicBezTo>
                  <a:lnTo>
                    <a:pt x="0" y="54714"/>
                  </a:lnTo>
                  <a:cubicBezTo>
                    <a:pt x="0" y="40203"/>
                    <a:pt x="5764" y="26286"/>
                    <a:pt x="16025" y="16025"/>
                  </a:cubicBezTo>
                  <a:cubicBezTo>
                    <a:pt x="26286" y="5764"/>
                    <a:pt x="40203" y="0"/>
                    <a:pt x="5471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45345" cy="902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0800000">
            <a:off x="8670539" y="3493895"/>
            <a:ext cx="1137705" cy="995492"/>
            <a:chOff x="0" y="0"/>
            <a:chExt cx="812800" cy="711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7126" y="51337"/>
              <a:ext cx="738548" cy="659863"/>
            </a:xfrm>
            <a:custGeom>
              <a:avLst/>
              <a:gdLst/>
              <a:ahLst/>
              <a:cxnLst/>
              <a:rect r="r" b="b" t="t" l="l"/>
              <a:pathLst>
                <a:path h="659863" w="738548">
                  <a:moveTo>
                    <a:pt x="413164" y="25471"/>
                  </a:moveTo>
                  <a:lnTo>
                    <a:pt x="731784" y="583055"/>
                  </a:lnTo>
                  <a:cubicBezTo>
                    <a:pt x="740863" y="598944"/>
                    <a:pt x="740798" y="618465"/>
                    <a:pt x="731613" y="634293"/>
                  </a:cubicBezTo>
                  <a:cubicBezTo>
                    <a:pt x="722427" y="650121"/>
                    <a:pt x="705511" y="659863"/>
                    <a:pt x="687211" y="659863"/>
                  </a:cubicBezTo>
                  <a:lnTo>
                    <a:pt x="51337" y="659863"/>
                  </a:lnTo>
                  <a:cubicBezTo>
                    <a:pt x="33037" y="659863"/>
                    <a:pt x="16120" y="650121"/>
                    <a:pt x="6935" y="634293"/>
                  </a:cubicBezTo>
                  <a:cubicBezTo>
                    <a:pt x="-2250" y="618465"/>
                    <a:pt x="-2315" y="598944"/>
                    <a:pt x="6764" y="583055"/>
                  </a:cubicBezTo>
                  <a:lnTo>
                    <a:pt x="325384" y="25471"/>
                  </a:lnTo>
                  <a:cubicBezTo>
                    <a:pt x="334384" y="9720"/>
                    <a:pt x="351134" y="0"/>
                    <a:pt x="369274" y="0"/>
                  </a:cubicBezTo>
                  <a:cubicBezTo>
                    <a:pt x="387414" y="0"/>
                    <a:pt x="404164" y="9720"/>
                    <a:pt x="413164" y="25471"/>
                  </a:cubicBezTo>
                  <a:close/>
                </a:path>
              </a:pathLst>
            </a:custGeom>
            <a:solidFill>
              <a:srgbClr val="007B8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2730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842271" y="2781748"/>
            <a:ext cx="1461378" cy="632583"/>
            <a:chOff x="0" y="0"/>
            <a:chExt cx="384890" cy="1666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4890" cy="166606"/>
            </a:xfrm>
            <a:custGeom>
              <a:avLst/>
              <a:gdLst/>
              <a:ahLst/>
              <a:cxnLst/>
              <a:rect r="r" b="b" t="t" l="l"/>
              <a:pathLst>
                <a:path h="166606" w="384890">
                  <a:moveTo>
                    <a:pt x="83303" y="0"/>
                  </a:moveTo>
                  <a:lnTo>
                    <a:pt x="301587" y="0"/>
                  </a:lnTo>
                  <a:cubicBezTo>
                    <a:pt x="323680" y="0"/>
                    <a:pt x="344868" y="8777"/>
                    <a:pt x="360491" y="24399"/>
                  </a:cubicBezTo>
                  <a:cubicBezTo>
                    <a:pt x="376113" y="40021"/>
                    <a:pt x="384890" y="61210"/>
                    <a:pt x="384890" y="83303"/>
                  </a:cubicBezTo>
                  <a:lnTo>
                    <a:pt x="384890" y="83303"/>
                  </a:lnTo>
                  <a:cubicBezTo>
                    <a:pt x="384890" y="129310"/>
                    <a:pt x="347594" y="166606"/>
                    <a:pt x="301587" y="166606"/>
                  </a:cubicBezTo>
                  <a:lnTo>
                    <a:pt x="83303" y="166606"/>
                  </a:lnTo>
                  <a:cubicBezTo>
                    <a:pt x="61210" y="166606"/>
                    <a:pt x="40021" y="157830"/>
                    <a:pt x="24399" y="142207"/>
                  </a:cubicBezTo>
                  <a:cubicBezTo>
                    <a:pt x="8777" y="126585"/>
                    <a:pt x="0" y="105397"/>
                    <a:pt x="0" y="83303"/>
                  </a:cubicBezTo>
                  <a:lnTo>
                    <a:pt x="0" y="83303"/>
                  </a:lnTo>
                  <a:cubicBezTo>
                    <a:pt x="0" y="61210"/>
                    <a:pt x="8777" y="40021"/>
                    <a:pt x="24399" y="24399"/>
                  </a:cubicBezTo>
                  <a:cubicBezTo>
                    <a:pt x="40021" y="8777"/>
                    <a:pt x="61210" y="0"/>
                    <a:pt x="83303" y="0"/>
                  </a:cubicBezTo>
                  <a:close/>
                </a:path>
              </a:pathLst>
            </a:custGeom>
            <a:solidFill>
              <a:srgbClr val="00425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84890" cy="223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3017216" y="2997952"/>
            <a:ext cx="1294988" cy="3282228"/>
          </a:xfrm>
          <a:custGeom>
            <a:avLst/>
            <a:gdLst/>
            <a:ahLst/>
            <a:cxnLst/>
            <a:rect r="r" b="b" t="t" l="l"/>
            <a:pathLst>
              <a:path h="3282228" w="1294988">
                <a:moveTo>
                  <a:pt x="0" y="0"/>
                </a:moveTo>
                <a:lnTo>
                  <a:pt x="1294988" y="0"/>
                </a:lnTo>
                <a:lnTo>
                  <a:pt x="1294988" y="3282228"/>
                </a:lnTo>
                <a:lnTo>
                  <a:pt x="0" y="3282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-10800000">
            <a:off x="12218459" y="6192725"/>
            <a:ext cx="709003" cy="620378"/>
            <a:chOff x="0" y="0"/>
            <a:chExt cx="812800" cy="711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9574" y="82378"/>
              <a:ext cx="693651" cy="628822"/>
            </a:xfrm>
            <a:custGeom>
              <a:avLst/>
              <a:gdLst/>
              <a:ahLst/>
              <a:cxnLst/>
              <a:rect r="r" b="b" t="t" l="l"/>
              <a:pathLst>
                <a:path h="628822" w="693651">
                  <a:moveTo>
                    <a:pt x="417254" y="40872"/>
                  </a:moveTo>
                  <a:lnTo>
                    <a:pt x="682798" y="505572"/>
                  </a:lnTo>
                  <a:cubicBezTo>
                    <a:pt x="697367" y="531069"/>
                    <a:pt x="697262" y="562393"/>
                    <a:pt x="682523" y="587792"/>
                  </a:cubicBezTo>
                  <a:cubicBezTo>
                    <a:pt x="667784" y="613190"/>
                    <a:pt x="640639" y="628822"/>
                    <a:pt x="611273" y="628822"/>
                  </a:cubicBezTo>
                  <a:lnTo>
                    <a:pt x="82379" y="628822"/>
                  </a:lnTo>
                  <a:cubicBezTo>
                    <a:pt x="53013" y="628822"/>
                    <a:pt x="25868" y="613190"/>
                    <a:pt x="11129" y="587792"/>
                  </a:cubicBezTo>
                  <a:cubicBezTo>
                    <a:pt x="-3610" y="562393"/>
                    <a:pt x="-3715" y="531069"/>
                    <a:pt x="10854" y="505572"/>
                  </a:cubicBezTo>
                  <a:lnTo>
                    <a:pt x="276398" y="40872"/>
                  </a:lnTo>
                  <a:cubicBezTo>
                    <a:pt x="290840" y="15598"/>
                    <a:pt x="317717" y="0"/>
                    <a:pt x="346826" y="0"/>
                  </a:cubicBezTo>
                  <a:cubicBezTo>
                    <a:pt x="375935" y="0"/>
                    <a:pt x="402812" y="15598"/>
                    <a:pt x="417254" y="4087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157969" y="2997952"/>
            <a:ext cx="2829983" cy="3282228"/>
            <a:chOff x="0" y="0"/>
            <a:chExt cx="745345" cy="86445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5345" cy="864455"/>
            </a:xfrm>
            <a:custGeom>
              <a:avLst/>
              <a:gdLst/>
              <a:ahLst/>
              <a:cxnLst/>
              <a:rect r="r" b="b" t="t" l="l"/>
              <a:pathLst>
                <a:path h="864455" w="745345">
                  <a:moveTo>
                    <a:pt x="54714" y="0"/>
                  </a:moveTo>
                  <a:lnTo>
                    <a:pt x="690632" y="0"/>
                  </a:lnTo>
                  <a:cubicBezTo>
                    <a:pt x="705143" y="0"/>
                    <a:pt x="719059" y="5764"/>
                    <a:pt x="729320" y="16025"/>
                  </a:cubicBezTo>
                  <a:cubicBezTo>
                    <a:pt x="739581" y="26286"/>
                    <a:pt x="745345" y="40203"/>
                    <a:pt x="745345" y="54714"/>
                  </a:cubicBezTo>
                  <a:lnTo>
                    <a:pt x="745345" y="809742"/>
                  </a:lnTo>
                  <a:cubicBezTo>
                    <a:pt x="745345" y="824252"/>
                    <a:pt x="739581" y="838169"/>
                    <a:pt x="729320" y="848430"/>
                  </a:cubicBezTo>
                  <a:cubicBezTo>
                    <a:pt x="719059" y="858691"/>
                    <a:pt x="705143" y="864455"/>
                    <a:pt x="690632" y="864455"/>
                  </a:cubicBezTo>
                  <a:lnTo>
                    <a:pt x="54714" y="864455"/>
                  </a:lnTo>
                  <a:cubicBezTo>
                    <a:pt x="40203" y="864455"/>
                    <a:pt x="26286" y="858691"/>
                    <a:pt x="16025" y="848430"/>
                  </a:cubicBezTo>
                  <a:cubicBezTo>
                    <a:pt x="5764" y="838169"/>
                    <a:pt x="0" y="824252"/>
                    <a:pt x="0" y="809742"/>
                  </a:cubicBezTo>
                  <a:lnTo>
                    <a:pt x="0" y="54714"/>
                  </a:lnTo>
                  <a:cubicBezTo>
                    <a:pt x="0" y="40203"/>
                    <a:pt x="5764" y="26286"/>
                    <a:pt x="16025" y="16025"/>
                  </a:cubicBezTo>
                  <a:cubicBezTo>
                    <a:pt x="26286" y="5764"/>
                    <a:pt x="40203" y="0"/>
                    <a:pt x="5471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45345" cy="902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10800000">
            <a:off x="12004108" y="2781748"/>
            <a:ext cx="1137705" cy="995492"/>
            <a:chOff x="0" y="0"/>
            <a:chExt cx="812800" cy="711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37126" y="51337"/>
              <a:ext cx="738548" cy="659863"/>
            </a:xfrm>
            <a:custGeom>
              <a:avLst/>
              <a:gdLst/>
              <a:ahLst/>
              <a:cxnLst/>
              <a:rect r="r" b="b" t="t" l="l"/>
              <a:pathLst>
                <a:path h="659863" w="738548">
                  <a:moveTo>
                    <a:pt x="413164" y="25471"/>
                  </a:moveTo>
                  <a:lnTo>
                    <a:pt x="731784" y="583055"/>
                  </a:lnTo>
                  <a:cubicBezTo>
                    <a:pt x="740863" y="598944"/>
                    <a:pt x="740798" y="618465"/>
                    <a:pt x="731613" y="634293"/>
                  </a:cubicBezTo>
                  <a:cubicBezTo>
                    <a:pt x="722427" y="650121"/>
                    <a:pt x="705511" y="659863"/>
                    <a:pt x="687211" y="659863"/>
                  </a:cubicBezTo>
                  <a:lnTo>
                    <a:pt x="51337" y="659863"/>
                  </a:lnTo>
                  <a:cubicBezTo>
                    <a:pt x="33037" y="659863"/>
                    <a:pt x="16120" y="650121"/>
                    <a:pt x="6935" y="634293"/>
                  </a:cubicBezTo>
                  <a:cubicBezTo>
                    <a:pt x="-2250" y="618465"/>
                    <a:pt x="-2315" y="598944"/>
                    <a:pt x="6764" y="583055"/>
                  </a:cubicBezTo>
                  <a:lnTo>
                    <a:pt x="325384" y="25471"/>
                  </a:lnTo>
                  <a:cubicBezTo>
                    <a:pt x="334384" y="9720"/>
                    <a:pt x="351134" y="0"/>
                    <a:pt x="369274" y="0"/>
                  </a:cubicBezTo>
                  <a:cubicBezTo>
                    <a:pt x="387414" y="0"/>
                    <a:pt x="404164" y="9720"/>
                    <a:pt x="413164" y="25471"/>
                  </a:cubicBezTo>
                  <a:close/>
                </a:path>
              </a:pathLst>
            </a:custGeom>
            <a:solidFill>
              <a:srgbClr val="00425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27000" y="2730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175840" y="3493895"/>
            <a:ext cx="1461378" cy="632583"/>
            <a:chOff x="0" y="0"/>
            <a:chExt cx="384890" cy="16660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4890" cy="166606"/>
            </a:xfrm>
            <a:custGeom>
              <a:avLst/>
              <a:gdLst/>
              <a:ahLst/>
              <a:cxnLst/>
              <a:rect r="r" b="b" t="t" l="l"/>
              <a:pathLst>
                <a:path h="166606" w="384890">
                  <a:moveTo>
                    <a:pt x="83303" y="0"/>
                  </a:moveTo>
                  <a:lnTo>
                    <a:pt x="301587" y="0"/>
                  </a:lnTo>
                  <a:cubicBezTo>
                    <a:pt x="323680" y="0"/>
                    <a:pt x="344868" y="8777"/>
                    <a:pt x="360491" y="24399"/>
                  </a:cubicBezTo>
                  <a:cubicBezTo>
                    <a:pt x="376113" y="40021"/>
                    <a:pt x="384890" y="61210"/>
                    <a:pt x="384890" y="83303"/>
                  </a:cubicBezTo>
                  <a:lnTo>
                    <a:pt x="384890" y="83303"/>
                  </a:lnTo>
                  <a:cubicBezTo>
                    <a:pt x="384890" y="129310"/>
                    <a:pt x="347594" y="166606"/>
                    <a:pt x="301587" y="166606"/>
                  </a:cubicBezTo>
                  <a:lnTo>
                    <a:pt x="83303" y="166606"/>
                  </a:lnTo>
                  <a:cubicBezTo>
                    <a:pt x="61210" y="166606"/>
                    <a:pt x="40021" y="157830"/>
                    <a:pt x="24399" y="142207"/>
                  </a:cubicBezTo>
                  <a:cubicBezTo>
                    <a:pt x="8777" y="126585"/>
                    <a:pt x="0" y="105397"/>
                    <a:pt x="0" y="83303"/>
                  </a:cubicBezTo>
                  <a:lnTo>
                    <a:pt x="0" y="83303"/>
                  </a:lnTo>
                  <a:cubicBezTo>
                    <a:pt x="0" y="61210"/>
                    <a:pt x="8777" y="40021"/>
                    <a:pt x="24399" y="24399"/>
                  </a:cubicBezTo>
                  <a:cubicBezTo>
                    <a:pt x="40021" y="8777"/>
                    <a:pt x="61210" y="0"/>
                    <a:pt x="83303" y="0"/>
                  </a:cubicBezTo>
                  <a:close/>
                </a:path>
              </a:pathLst>
            </a:custGeom>
            <a:solidFill>
              <a:srgbClr val="000038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384890" cy="223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6350785" y="3710100"/>
            <a:ext cx="1294988" cy="3282228"/>
          </a:xfrm>
          <a:custGeom>
            <a:avLst/>
            <a:gdLst/>
            <a:ahLst/>
            <a:cxnLst/>
            <a:rect r="r" b="b" t="t" l="l"/>
            <a:pathLst>
              <a:path h="3282228" w="1294988">
                <a:moveTo>
                  <a:pt x="0" y="0"/>
                </a:moveTo>
                <a:lnTo>
                  <a:pt x="1294988" y="0"/>
                </a:lnTo>
                <a:lnTo>
                  <a:pt x="1294988" y="3282228"/>
                </a:lnTo>
                <a:lnTo>
                  <a:pt x="0" y="3282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-10800000">
            <a:off x="15552028" y="6904872"/>
            <a:ext cx="709003" cy="620378"/>
            <a:chOff x="0" y="0"/>
            <a:chExt cx="812800" cy="711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9574" y="82378"/>
              <a:ext cx="693651" cy="628822"/>
            </a:xfrm>
            <a:custGeom>
              <a:avLst/>
              <a:gdLst/>
              <a:ahLst/>
              <a:cxnLst/>
              <a:rect r="r" b="b" t="t" l="l"/>
              <a:pathLst>
                <a:path h="628822" w="693651">
                  <a:moveTo>
                    <a:pt x="417254" y="40872"/>
                  </a:moveTo>
                  <a:lnTo>
                    <a:pt x="682798" y="505572"/>
                  </a:lnTo>
                  <a:cubicBezTo>
                    <a:pt x="697367" y="531069"/>
                    <a:pt x="697262" y="562393"/>
                    <a:pt x="682523" y="587792"/>
                  </a:cubicBezTo>
                  <a:cubicBezTo>
                    <a:pt x="667784" y="613190"/>
                    <a:pt x="640639" y="628822"/>
                    <a:pt x="611273" y="628822"/>
                  </a:cubicBezTo>
                  <a:lnTo>
                    <a:pt x="82379" y="628822"/>
                  </a:lnTo>
                  <a:cubicBezTo>
                    <a:pt x="53013" y="628822"/>
                    <a:pt x="25868" y="613190"/>
                    <a:pt x="11129" y="587792"/>
                  </a:cubicBezTo>
                  <a:cubicBezTo>
                    <a:pt x="-3610" y="562393"/>
                    <a:pt x="-3715" y="531069"/>
                    <a:pt x="10854" y="505572"/>
                  </a:cubicBezTo>
                  <a:lnTo>
                    <a:pt x="276398" y="40872"/>
                  </a:lnTo>
                  <a:cubicBezTo>
                    <a:pt x="290840" y="15598"/>
                    <a:pt x="317717" y="0"/>
                    <a:pt x="346826" y="0"/>
                  </a:cubicBezTo>
                  <a:cubicBezTo>
                    <a:pt x="375935" y="0"/>
                    <a:pt x="402812" y="15598"/>
                    <a:pt x="417254" y="4087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491538" y="3710100"/>
            <a:ext cx="2829983" cy="3282228"/>
            <a:chOff x="0" y="0"/>
            <a:chExt cx="745345" cy="86445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5345" cy="864455"/>
            </a:xfrm>
            <a:custGeom>
              <a:avLst/>
              <a:gdLst/>
              <a:ahLst/>
              <a:cxnLst/>
              <a:rect r="r" b="b" t="t" l="l"/>
              <a:pathLst>
                <a:path h="864455" w="745345">
                  <a:moveTo>
                    <a:pt x="54714" y="0"/>
                  </a:moveTo>
                  <a:lnTo>
                    <a:pt x="690632" y="0"/>
                  </a:lnTo>
                  <a:cubicBezTo>
                    <a:pt x="705143" y="0"/>
                    <a:pt x="719059" y="5764"/>
                    <a:pt x="729320" y="16025"/>
                  </a:cubicBezTo>
                  <a:cubicBezTo>
                    <a:pt x="739581" y="26286"/>
                    <a:pt x="745345" y="40203"/>
                    <a:pt x="745345" y="54714"/>
                  </a:cubicBezTo>
                  <a:lnTo>
                    <a:pt x="745345" y="809742"/>
                  </a:lnTo>
                  <a:cubicBezTo>
                    <a:pt x="745345" y="824252"/>
                    <a:pt x="739581" y="838169"/>
                    <a:pt x="729320" y="848430"/>
                  </a:cubicBezTo>
                  <a:cubicBezTo>
                    <a:pt x="719059" y="858691"/>
                    <a:pt x="705143" y="864455"/>
                    <a:pt x="690632" y="864455"/>
                  </a:cubicBezTo>
                  <a:lnTo>
                    <a:pt x="54714" y="864455"/>
                  </a:lnTo>
                  <a:cubicBezTo>
                    <a:pt x="40203" y="864455"/>
                    <a:pt x="26286" y="858691"/>
                    <a:pt x="16025" y="848430"/>
                  </a:cubicBezTo>
                  <a:cubicBezTo>
                    <a:pt x="5764" y="838169"/>
                    <a:pt x="0" y="824252"/>
                    <a:pt x="0" y="809742"/>
                  </a:cubicBezTo>
                  <a:lnTo>
                    <a:pt x="0" y="54714"/>
                  </a:lnTo>
                  <a:cubicBezTo>
                    <a:pt x="0" y="40203"/>
                    <a:pt x="5764" y="26286"/>
                    <a:pt x="16025" y="16025"/>
                  </a:cubicBezTo>
                  <a:cubicBezTo>
                    <a:pt x="26286" y="5764"/>
                    <a:pt x="40203" y="0"/>
                    <a:pt x="5471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45345" cy="902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10800000">
            <a:off x="15337677" y="3493895"/>
            <a:ext cx="1137705" cy="995492"/>
            <a:chOff x="0" y="0"/>
            <a:chExt cx="812800" cy="711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37126" y="51337"/>
              <a:ext cx="738548" cy="659863"/>
            </a:xfrm>
            <a:custGeom>
              <a:avLst/>
              <a:gdLst/>
              <a:ahLst/>
              <a:cxnLst/>
              <a:rect r="r" b="b" t="t" l="l"/>
              <a:pathLst>
                <a:path h="659863" w="738548">
                  <a:moveTo>
                    <a:pt x="413164" y="25471"/>
                  </a:moveTo>
                  <a:lnTo>
                    <a:pt x="731784" y="583055"/>
                  </a:lnTo>
                  <a:cubicBezTo>
                    <a:pt x="740863" y="598944"/>
                    <a:pt x="740798" y="618465"/>
                    <a:pt x="731613" y="634293"/>
                  </a:cubicBezTo>
                  <a:cubicBezTo>
                    <a:pt x="722427" y="650121"/>
                    <a:pt x="705511" y="659863"/>
                    <a:pt x="687211" y="659863"/>
                  </a:cubicBezTo>
                  <a:lnTo>
                    <a:pt x="51337" y="659863"/>
                  </a:lnTo>
                  <a:cubicBezTo>
                    <a:pt x="33037" y="659863"/>
                    <a:pt x="16120" y="650121"/>
                    <a:pt x="6935" y="634293"/>
                  </a:cubicBezTo>
                  <a:cubicBezTo>
                    <a:pt x="-2250" y="618465"/>
                    <a:pt x="-2315" y="598944"/>
                    <a:pt x="6764" y="583055"/>
                  </a:cubicBezTo>
                  <a:lnTo>
                    <a:pt x="325384" y="25471"/>
                  </a:lnTo>
                  <a:cubicBezTo>
                    <a:pt x="334384" y="9720"/>
                    <a:pt x="351134" y="0"/>
                    <a:pt x="369274" y="0"/>
                  </a:cubicBezTo>
                  <a:cubicBezTo>
                    <a:pt x="387414" y="0"/>
                    <a:pt x="404164" y="9720"/>
                    <a:pt x="413164" y="25471"/>
                  </a:cubicBezTo>
                  <a:close/>
                </a:path>
              </a:pathLst>
            </a:custGeom>
            <a:solidFill>
              <a:srgbClr val="000038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27000" y="2730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841565" y="3493895"/>
            <a:ext cx="1461378" cy="632583"/>
            <a:chOff x="0" y="0"/>
            <a:chExt cx="384890" cy="16660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84890" cy="166606"/>
            </a:xfrm>
            <a:custGeom>
              <a:avLst/>
              <a:gdLst/>
              <a:ahLst/>
              <a:cxnLst/>
              <a:rect r="r" b="b" t="t" l="l"/>
              <a:pathLst>
                <a:path h="166606" w="384890">
                  <a:moveTo>
                    <a:pt x="83303" y="0"/>
                  </a:moveTo>
                  <a:lnTo>
                    <a:pt x="301587" y="0"/>
                  </a:lnTo>
                  <a:cubicBezTo>
                    <a:pt x="323680" y="0"/>
                    <a:pt x="344868" y="8777"/>
                    <a:pt x="360491" y="24399"/>
                  </a:cubicBezTo>
                  <a:cubicBezTo>
                    <a:pt x="376113" y="40021"/>
                    <a:pt x="384890" y="61210"/>
                    <a:pt x="384890" y="83303"/>
                  </a:cubicBezTo>
                  <a:lnTo>
                    <a:pt x="384890" y="83303"/>
                  </a:lnTo>
                  <a:cubicBezTo>
                    <a:pt x="384890" y="129310"/>
                    <a:pt x="347594" y="166606"/>
                    <a:pt x="301587" y="166606"/>
                  </a:cubicBezTo>
                  <a:lnTo>
                    <a:pt x="83303" y="166606"/>
                  </a:lnTo>
                  <a:cubicBezTo>
                    <a:pt x="61210" y="166606"/>
                    <a:pt x="40021" y="157830"/>
                    <a:pt x="24399" y="142207"/>
                  </a:cubicBezTo>
                  <a:cubicBezTo>
                    <a:pt x="8777" y="126585"/>
                    <a:pt x="0" y="105397"/>
                    <a:pt x="0" y="83303"/>
                  </a:cubicBezTo>
                  <a:lnTo>
                    <a:pt x="0" y="83303"/>
                  </a:lnTo>
                  <a:cubicBezTo>
                    <a:pt x="0" y="61210"/>
                    <a:pt x="8777" y="40021"/>
                    <a:pt x="24399" y="24399"/>
                  </a:cubicBezTo>
                  <a:cubicBezTo>
                    <a:pt x="40021" y="8777"/>
                    <a:pt x="61210" y="0"/>
                    <a:pt x="83303" y="0"/>
                  </a:cubicBezTo>
                  <a:close/>
                </a:path>
              </a:pathLst>
            </a:custGeom>
            <a:solidFill>
              <a:srgbClr val="56E11B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384890" cy="223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3016509" y="3710100"/>
            <a:ext cx="1294988" cy="3282228"/>
          </a:xfrm>
          <a:custGeom>
            <a:avLst/>
            <a:gdLst/>
            <a:ahLst/>
            <a:cxnLst/>
            <a:rect r="r" b="b" t="t" l="l"/>
            <a:pathLst>
              <a:path h="3282228" w="1294988">
                <a:moveTo>
                  <a:pt x="0" y="0"/>
                </a:moveTo>
                <a:lnTo>
                  <a:pt x="1294988" y="0"/>
                </a:lnTo>
                <a:lnTo>
                  <a:pt x="1294988" y="3282228"/>
                </a:lnTo>
                <a:lnTo>
                  <a:pt x="0" y="3282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-10800000">
            <a:off x="2217752" y="6904872"/>
            <a:ext cx="709003" cy="620378"/>
            <a:chOff x="0" y="0"/>
            <a:chExt cx="812800" cy="711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59574" y="82378"/>
              <a:ext cx="693651" cy="628822"/>
            </a:xfrm>
            <a:custGeom>
              <a:avLst/>
              <a:gdLst/>
              <a:ahLst/>
              <a:cxnLst/>
              <a:rect r="r" b="b" t="t" l="l"/>
              <a:pathLst>
                <a:path h="628822" w="693651">
                  <a:moveTo>
                    <a:pt x="417254" y="40872"/>
                  </a:moveTo>
                  <a:lnTo>
                    <a:pt x="682798" y="505572"/>
                  </a:lnTo>
                  <a:cubicBezTo>
                    <a:pt x="697367" y="531069"/>
                    <a:pt x="697262" y="562393"/>
                    <a:pt x="682523" y="587792"/>
                  </a:cubicBezTo>
                  <a:cubicBezTo>
                    <a:pt x="667784" y="613190"/>
                    <a:pt x="640639" y="628822"/>
                    <a:pt x="611273" y="628822"/>
                  </a:cubicBezTo>
                  <a:lnTo>
                    <a:pt x="82379" y="628822"/>
                  </a:lnTo>
                  <a:cubicBezTo>
                    <a:pt x="53013" y="628822"/>
                    <a:pt x="25868" y="613190"/>
                    <a:pt x="11129" y="587792"/>
                  </a:cubicBezTo>
                  <a:cubicBezTo>
                    <a:pt x="-3610" y="562393"/>
                    <a:pt x="-3715" y="531069"/>
                    <a:pt x="10854" y="505572"/>
                  </a:cubicBezTo>
                  <a:lnTo>
                    <a:pt x="276398" y="40872"/>
                  </a:lnTo>
                  <a:cubicBezTo>
                    <a:pt x="290840" y="15598"/>
                    <a:pt x="317717" y="0"/>
                    <a:pt x="346826" y="0"/>
                  </a:cubicBezTo>
                  <a:cubicBezTo>
                    <a:pt x="375935" y="0"/>
                    <a:pt x="402812" y="15598"/>
                    <a:pt x="417254" y="4087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57262" y="3710100"/>
            <a:ext cx="2829983" cy="3282228"/>
            <a:chOff x="0" y="0"/>
            <a:chExt cx="745345" cy="86445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45345" cy="864455"/>
            </a:xfrm>
            <a:custGeom>
              <a:avLst/>
              <a:gdLst/>
              <a:ahLst/>
              <a:cxnLst/>
              <a:rect r="r" b="b" t="t" l="l"/>
              <a:pathLst>
                <a:path h="864455" w="745345">
                  <a:moveTo>
                    <a:pt x="54714" y="0"/>
                  </a:moveTo>
                  <a:lnTo>
                    <a:pt x="690632" y="0"/>
                  </a:lnTo>
                  <a:cubicBezTo>
                    <a:pt x="705143" y="0"/>
                    <a:pt x="719059" y="5764"/>
                    <a:pt x="729320" y="16025"/>
                  </a:cubicBezTo>
                  <a:cubicBezTo>
                    <a:pt x="739581" y="26286"/>
                    <a:pt x="745345" y="40203"/>
                    <a:pt x="745345" y="54714"/>
                  </a:cubicBezTo>
                  <a:lnTo>
                    <a:pt x="745345" y="809742"/>
                  </a:lnTo>
                  <a:cubicBezTo>
                    <a:pt x="745345" y="824252"/>
                    <a:pt x="739581" y="838169"/>
                    <a:pt x="729320" y="848430"/>
                  </a:cubicBezTo>
                  <a:cubicBezTo>
                    <a:pt x="719059" y="858691"/>
                    <a:pt x="705143" y="864455"/>
                    <a:pt x="690632" y="864455"/>
                  </a:cubicBezTo>
                  <a:lnTo>
                    <a:pt x="54714" y="864455"/>
                  </a:lnTo>
                  <a:cubicBezTo>
                    <a:pt x="40203" y="864455"/>
                    <a:pt x="26286" y="858691"/>
                    <a:pt x="16025" y="848430"/>
                  </a:cubicBezTo>
                  <a:cubicBezTo>
                    <a:pt x="5764" y="838169"/>
                    <a:pt x="0" y="824252"/>
                    <a:pt x="0" y="809742"/>
                  </a:cubicBezTo>
                  <a:lnTo>
                    <a:pt x="0" y="54714"/>
                  </a:lnTo>
                  <a:cubicBezTo>
                    <a:pt x="0" y="40203"/>
                    <a:pt x="5764" y="26286"/>
                    <a:pt x="16025" y="16025"/>
                  </a:cubicBezTo>
                  <a:cubicBezTo>
                    <a:pt x="26286" y="5764"/>
                    <a:pt x="40203" y="0"/>
                    <a:pt x="5471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745345" cy="902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-10800000">
            <a:off x="2003401" y="3493895"/>
            <a:ext cx="1137705" cy="995492"/>
            <a:chOff x="0" y="0"/>
            <a:chExt cx="812800" cy="711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37126" y="51337"/>
              <a:ext cx="738548" cy="659863"/>
            </a:xfrm>
            <a:custGeom>
              <a:avLst/>
              <a:gdLst/>
              <a:ahLst/>
              <a:cxnLst/>
              <a:rect r="r" b="b" t="t" l="l"/>
              <a:pathLst>
                <a:path h="659863" w="738548">
                  <a:moveTo>
                    <a:pt x="413164" y="25471"/>
                  </a:moveTo>
                  <a:lnTo>
                    <a:pt x="731784" y="583055"/>
                  </a:lnTo>
                  <a:cubicBezTo>
                    <a:pt x="740863" y="598944"/>
                    <a:pt x="740798" y="618465"/>
                    <a:pt x="731613" y="634293"/>
                  </a:cubicBezTo>
                  <a:cubicBezTo>
                    <a:pt x="722427" y="650121"/>
                    <a:pt x="705511" y="659863"/>
                    <a:pt x="687211" y="659863"/>
                  </a:cubicBezTo>
                  <a:lnTo>
                    <a:pt x="51337" y="659863"/>
                  </a:lnTo>
                  <a:cubicBezTo>
                    <a:pt x="33037" y="659863"/>
                    <a:pt x="16120" y="650121"/>
                    <a:pt x="6935" y="634293"/>
                  </a:cubicBezTo>
                  <a:cubicBezTo>
                    <a:pt x="-2250" y="618465"/>
                    <a:pt x="-2315" y="598944"/>
                    <a:pt x="6764" y="583055"/>
                  </a:cubicBezTo>
                  <a:lnTo>
                    <a:pt x="325384" y="25471"/>
                  </a:lnTo>
                  <a:cubicBezTo>
                    <a:pt x="334384" y="9720"/>
                    <a:pt x="351134" y="0"/>
                    <a:pt x="369274" y="0"/>
                  </a:cubicBezTo>
                  <a:cubicBezTo>
                    <a:pt x="387414" y="0"/>
                    <a:pt x="404164" y="9720"/>
                    <a:pt x="413164" y="25471"/>
                  </a:cubicBezTo>
                  <a:close/>
                </a:path>
              </a:pathLst>
            </a:custGeom>
            <a:solidFill>
              <a:srgbClr val="56E11B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127000" y="2730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5175133" y="2781748"/>
            <a:ext cx="1461378" cy="632583"/>
            <a:chOff x="0" y="0"/>
            <a:chExt cx="384890" cy="16660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84890" cy="166606"/>
            </a:xfrm>
            <a:custGeom>
              <a:avLst/>
              <a:gdLst/>
              <a:ahLst/>
              <a:cxnLst/>
              <a:rect r="r" b="b" t="t" l="l"/>
              <a:pathLst>
                <a:path h="166606" w="384890">
                  <a:moveTo>
                    <a:pt x="83303" y="0"/>
                  </a:moveTo>
                  <a:lnTo>
                    <a:pt x="301587" y="0"/>
                  </a:lnTo>
                  <a:cubicBezTo>
                    <a:pt x="323680" y="0"/>
                    <a:pt x="344868" y="8777"/>
                    <a:pt x="360491" y="24399"/>
                  </a:cubicBezTo>
                  <a:cubicBezTo>
                    <a:pt x="376113" y="40021"/>
                    <a:pt x="384890" y="61210"/>
                    <a:pt x="384890" y="83303"/>
                  </a:cubicBezTo>
                  <a:lnTo>
                    <a:pt x="384890" y="83303"/>
                  </a:lnTo>
                  <a:cubicBezTo>
                    <a:pt x="384890" y="129310"/>
                    <a:pt x="347594" y="166606"/>
                    <a:pt x="301587" y="166606"/>
                  </a:cubicBezTo>
                  <a:lnTo>
                    <a:pt x="83303" y="166606"/>
                  </a:lnTo>
                  <a:cubicBezTo>
                    <a:pt x="61210" y="166606"/>
                    <a:pt x="40021" y="157830"/>
                    <a:pt x="24399" y="142207"/>
                  </a:cubicBezTo>
                  <a:cubicBezTo>
                    <a:pt x="8777" y="126585"/>
                    <a:pt x="0" y="105397"/>
                    <a:pt x="0" y="83303"/>
                  </a:cubicBezTo>
                  <a:lnTo>
                    <a:pt x="0" y="83303"/>
                  </a:lnTo>
                  <a:cubicBezTo>
                    <a:pt x="0" y="61210"/>
                    <a:pt x="8777" y="40021"/>
                    <a:pt x="24399" y="24399"/>
                  </a:cubicBezTo>
                  <a:cubicBezTo>
                    <a:pt x="40021" y="8777"/>
                    <a:pt x="61210" y="0"/>
                    <a:pt x="83303" y="0"/>
                  </a:cubicBezTo>
                  <a:close/>
                </a:path>
              </a:pathLst>
            </a:custGeom>
            <a:solidFill>
              <a:srgbClr val="00C267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384890" cy="223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6350078" y="2997952"/>
            <a:ext cx="1294988" cy="3282228"/>
          </a:xfrm>
          <a:custGeom>
            <a:avLst/>
            <a:gdLst/>
            <a:ahLst/>
            <a:cxnLst/>
            <a:rect r="r" b="b" t="t" l="l"/>
            <a:pathLst>
              <a:path h="3282228" w="1294988">
                <a:moveTo>
                  <a:pt x="0" y="0"/>
                </a:moveTo>
                <a:lnTo>
                  <a:pt x="1294988" y="0"/>
                </a:lnTo>
                <a:lnTo>
                  <a:pt x="1294988" y="3282228"/>
                </a:lnTo>
                <a:lnTo>
                  <a:pt x="0" y="3282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-10800000">
            <a:off x="5551321" y="6192725"/>
            <a:ext cx="709003" cy="620378"/>
            <a:chOff x="0" y="0"/>
            <a:chExt cx="812800" cy="711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59574" y="82378"/>
              <a:ext cx="693651" cy="628822"/>
            </a:xfrm>
            <a:custGeom>
              <a:avLst/>
              <a:gdLst/>
              <a:ahLst/>
              <a:cxnLst/>
              <a:rect r="r" b="b" t="t" l="l"/>
              <a:pathLst>
                <a:path h="628822" w="693651">
                  <a:moveTo>
                    <a:pt x="417254" y="40872"/>
                  </a:moveTo>
                  <a:lnTo>
                    <a:pt x="682798" y="505572"/>
                  </a:lnTo>
                  <a:cubicBezTo>
                    <a:pt x="697367" y="531069"/>
                    <a:pt x="697262" y="562393"/>
                    <a:pt x="682523" y="587792"/>
                  </a:cubicBezTo>
                  <a:cubicBezTo>
                    <a:pt x="667784" y="613190"/>
                    <a:pt x="640639" y="628822"/>
                    <a:pt x="611273" y="628822"/>
                  </a:cubicBezTo>
                  <a:lnTo>
                    <a:pt x="82379" y="628822"/>
                  </a:lnTo>
                  <a:cubicBezTo>
                    <a:pt x="53013" y="628822"/>
                    <a:pt x="25868" y="613190"/>
                    <a:pt x="11129" y="587792"/>
                  </a:cubicBezTo>
                  <a:cubicBezTo>
                    <a:pt x="-3610" y="562393"/>
                    <a:pt x="-3715" y="531069"/>
                    <a:pt x="10854" y="505572"/>
                  </a:cubicBezTo>
                  <a:lnTo>
                    <a:pt x="276398" y="40872"/>
                  </a:lnTo>
                  <a:cubicBezTo>
                    <a:pt x="290840" y="15598"/>
                    <a:pt x="317717" y="0"/>
                    <a:pt x="346826" y="0"/>
                  </a:cubicBezTo>
                  <a:cubicBezTo>
                    <a:pt x="375935" y="0"/>
                    <a:pt x="402812" y="15598"/>
                    <a:pt x="417254" y="4087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4490831" y="2997952"/>
            <a:ext cx="2829983" cy="3282228"/>
            <a:chOff x="0" y="0"/>
            <a:chExt cx="745345" cy="86445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45345" cy="864455"/>
            </a:xfrm>
            <a:custGeom>
              <a:avLst/>
              <a:gdLst/>
              <a:ahLst/>
              <a:cxnLst/>
              <a:rect r="r" b="b" t="t" l="l"/>
              <a:pathLst>
                <a:path h="864455" w="745345">
                  <a:moveTo>
                    <a:pt x="54714" y="0"/>
                  </a:moveTo>
                  <a:lnTo>
                    <a:pt x="690632" y="0"/>
                  </a:lnTo>
                  <a:cubicBezTo>
                    <a:pt x="705143" y="0"/>
                    <a:pt x="719059" y="5764"/>
                    <a:pt x="729320" y="16025"/>
                  </a:cubicBezTo>
                  <a:cubicBezTo>
                    <a:pt x="739581" y="26286"/>
                    <a:pt x="745345" y="40203"/>
                    <a:pt x="745345" y="54714"/>
                  </a:cubicBezTo>
                  <a:lnTo>
                    <a:pt x="745345" y="809742"/>
                  </a:lnTo>
                  <a:cubicBezTo>
                    <a:pt x="745345" y="824252"/>
                    <a:pt x="739581" y="838169"/>
                    <a:pt x="729320" y="848430"/>
                  </a:cubicBezTo>
                  <a:cubicBezTo>
                    <a:pt x="719059" y="858691"/>
                    <a:pt x="705143" y="864455"/>
                    <a:pt x="690632" y="864455"/>
                  </a:cubicBezTo>
                  <a:lnTo>
                    <a:pt x="54714" y="864455"/>
                  </a:lnTo>
                  <a:cubicBezTo>
                    <a:pt x="40203" y="864455"/>
                    <a:pt x="26286" y="858691"/>
                    <a:pt x="16025" y="848430"/>
                  </a:cubicBezTo>
                  <a:cubicBezTo>
                    <a:pt x="5764" y="838169"/>
                    <a:pt x="0" y="824252"/>
                    <a:pt x="0" y="809742"/>
                  </a:cubicBezTo>
                  <a:lnTo>
                    <a:pt x="0" y="54714"/>
                  </a:lnTo>
                  <a:cubicBezTo>
                    <a:pt x="0" y="40203"/>
                    <a:pt x="5764" y="26286"/>
                    <a:pt x="16025" y="16025"/>
                  </a:cubicBezTo>
                  <a:cubicBezTo>
                    <a:pt x="26286" y="5764"/>
                    <a:pt x="40203" y="0"/>
                    <a:pt x="5471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745345" cy="902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-10800000">
            <a:off x="5336970" y="2781748"/>
            <a:ext cx="1137705" cy="995492"/>
            <a:chOff x="0" y="0"/>
            <a:chExt cx="812800" cy="7112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37126" y="51337"/>
              <a:ext cx="738548" cy="659863"/>
            </a:xfrm>
            <a:custGeom>
              <a:avLst/>
              <a:gdLst/>
              <a:ahLst/>
              <a:cxnLst/>
              <a:rect r="r" b="b" t="t" l="l"/>
              <a:pathLst>
                <a:path h="659863" w="738548">
                  <a:moveTo>
                    <a:pt x="413164" y="25471"/>
                  </a:moveTo>
                  <a:lnTo>
                    <a:pt x="731784" y="583055"/>
                  </a:lnTo>
                  <a:cubicBezTo>
                    <a:pt x="740863" y="598944"/>
                    <a:pt x="740798" y="618465"/>
                    <a:pt x="731613" y="634293"/>
                  </a:cubicBezTo>
                  <a:cubicBezTo>
                    <a:pt x="722427" y="650121"/>
                    <a:pt x="705511" y="659863"/>
                    <a:pt x="687211" y="659863"/>
                  </a:cubicBezTo>
                  <a:lnTo>
                    <a:pt x="51337" y="659863"/>
                  </a:lnTo>
                  <a:cubicBezTo>
                    <a:pt x="33037" y="659863"/>
                    <a:pt x="16120" y="650121"/>
                    <a:pt x="6935" y="634293"/>
                  </a:cubicBezTo>
                  <a:cubicBezTo>
                    <a:pt x="-2250" y="618465"/>
                    <a:pt x="-2315" y="598944"/>
                    <a:pt x="6764" y="583055"/>
                  </a:cubicBezTo>
                  <a:lnTo>
                    <a:pt x="325384" y="25471"/>
                  </a:lnTo>
                  <a:cubicBezTo>
                    <a:pt x="334384" y="9720"/>
                    <a:pt x="351134" y="0"/>
                    <a:pt x="369274" y="0"/>
                  </a:cubicBezTo>
                  <a:cubicBezTo>
                    <a:pt x="387414" y="0"/>
                    <a:pt x="404164" y="9720"/>
                    <a:pt x="413164" y="25471"/>
                  </a:cubicBezTo>
                  <a:close/>
                </a:path>
              </a:pathLst>
            </a:custGeom>
            <a:solidFill>
              <a:srgbClr val="00C267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127000" y="2730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473582" y="4509466"/>
            <a:ext cx="218857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083597" y="3672000"/>
            <a:ext cx="97731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01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8140720" y="4509466"/>
            <a:ext cx="218857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750734" y="3672000"/>
            <a:ext cx="97731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03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316648" y="3797319"/>
            <a:ext cx="265398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 &amp; Discussion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084303" y="2959852"/>
            <a:ext cx="97731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04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4806010" y="4528516"/>
            <a:ext cx="2192269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5417872" y="3672000"/>
            <a:ext cx="97731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05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805304" y="3797319"/>
            <a:ext cx="219226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Literature Review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5417165" y="2959852"/>
            <a:ext cx="97731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02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4039115" y="1329140"/>
            <a:ext cx="108585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Table</a:t>
            </a:r>
            <a:r>
              <a:rPr lang="en-US" b="true" sz="3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of Contents</a:t>
            </a:r>
          </a:p>
        </p:txBody>
      </p:sp>
      <p:sp>
        <p:nvSpPr>
          <p:cNvPr name="Freeform 78" id="78"/>
          <p:cNvSpPr/>
          <p:nvPr/>
        </p:nvSpPr>
        <p:spPr>
          <a:xfrm flipH="false" flipV="false" rot="0">
            <a:off x="1768960" y="382298"/>
            <a:ext cx="3325764" cy="1292805"/>
          </a:xfrm>
          <a:custGeom>
            <a:avLst/>
            <a:gdLst/>
            <a:ahLst/>
            <a:cxnLst/>
            <a:rect r="r" b="b" t="t" l="l"/>
            <a:pathLst>
              <a:path h="1292805" w="3325764">
                <a:moveTo>
                  <a:pt x="0" y="0"/>
                </a:moveTo>
                <a:lnTo>
                  <a:pt x="3325765" y="0"/>
                </a:lnTo>
                <a:lnTo>
                  <a:pt x="3325765" y="1292804"/>
                </a:lnTo>
                <a:lnTo>
                  <a:pt x="0" y="12928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15960662" y="407267"/>
            <a:ext cx="1298638" cy="1261915"/>
          </a:xfrm>
          <a:custGeom>
            <a:avLst/>
            <a:gdLst/>
            <a:ahLst/>
            <a:cxnLst/>
            <a:rect r="r" b="b" t="t" l="l"/>
            <a:pathLst>
              <a:path h="1261915" w="1298638">
                <a:moveTo>
                  <a:pt x="0" y="0"/>
                </a:moveTo>
                <a:lnTo>
                  <a:pt x="1298638" y="0"/>
                </a:lnTo>
                <a:lnTo>
                  <a:pt x="1298638" y="1261916"/>
                </a:lnTo>
                <a:lnTo>
                  <a:pt x="0" y="12619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0" id="80"/>
          <p:cNvSpPr txBox="true"/>
          <p:nvPr/>
        </p:nvSpPr>
        <p:spPr>
          <a:xfrm rot="0">
            <a:off x="1329992" y="4923262"/>
            <a:ext cx="2101850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Background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Problem Statement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Motivation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Objectives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4726261" y="4270314"/>
            <a:ext cx="1745589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Rel</a:t>
            </a:r>
            <a:r>
              <a:rPr lang="en-US" sz="15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ated Studies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Research Gap</a:t>
            </a:r>
          </a:p>
          <a:p>
            <a:pPr algn="l">
              <a:lnSpc>
                <a:spcPts val="2239"/>
              </a:lnSpc>
            </a:pPr>
          </a:p>
        </p:txBody>
      </p:sp>
      <p:sp>
        <p:nvSpPr>
          <p:cNvPr name="TextBox 82" id="82"/>
          <p:cNvSpPr txBox="true"/>
          <p:nvPr/>
        </p:nvSpPr>
        <p:spPr>
          <a:xfrm rot="0">
            <a:off x="8064166" y="4998312"/>
            <a:ext cx="2566723" cy="136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Appro</a:t>
            </a:r>
            <a:r>
              <a:rPr lang="en-US" sz="15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ach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Research Design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Data Collection Methods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Data Analysis Methods</a:t>
            </a:r>
          </a:p>
          <a:p>
            <a:pPr algn="l">
              <a:lnSpc>
                <a:spcPts val="2239"/>
              </a:lnSpc>
            </a:pPr>
          </a:p>
        </p:txBody>
      </p:sp>
      <p:sp>
        <p:nvSpPr>
          <p:cNvPr name="TextBox 83" id="83"/>
          <p:cNvSpPr txBox="true"/>
          <p:nvPr/>
        </p:nvSpPr>
        <p:spPr>
          <a:xfrm rot="0">
            <a:off x="11316648" y="4258379"/>
            <a:ext cx="2285603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Key Findin</a:t>
            </a:r>
            <a:r>
              <a:rPr lang="en-US" sz="15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Comparison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Performance Analysis</a:t>
            </a:r>
          </a:p>
          <a:p>
            <a:pPr algn="l">
              <a:lnSpc>
                <a:spcPts val="2239"/>
              </a:lnSpc>
            </a:pPr>
          </a:p>
        </p:txBody>
      </p:sp>
      <p:sp>
        <p:nvSpPr>
          <p:cNvPr name="TextBox 84" id="84"/>
          <p:cNvSpPr txBox="true"/>
          <p:nvPr/>
        </p:nvSpPr>
        <p:spPr>
          <a:xfrm rot="0">
            <a:off x="14397929" y="4902942"/>
            <a:ext cx="2611570" cy="136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Summ</a:t>
            </a:r>
            <a:r>
              <a:rPr lang="en-US" sz="15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ary of Key Findings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Contributions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Limitations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Future Works</a:t>
            </a:r>
          </a:p>
          <a:p>
            <a:pPr algn="l">
              <a:lnSpc>
                <a:spcPts val="2239"/>
              </a:lnSpc>
            </a:pPr>
          </a:p>
        </p:txBody>
      </p:sp>
      <p:sp>
        <p:nvSpPr>
          <p:cNvPr name="TextBox 85" id="85"/>
          <p:cNvSpPr txBox="true"/>
          <p:nvPr/>
        </p:nvSpPr>
        <p:spPr>
          <a:xfrm rot="0">
            <a:off x="14397929" y="5987522"/>
            <a:ext cx="2795455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References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Question &amp; Answer Session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41908" y="669617"/>
            <a:ext cx="8947765" cy="8947765"/>
          </a:xfrm>
          <a:custGeom>
            <a:avLst/>
            <a:gdLst/>
            <a:ahLst/>
            <a:cxnLst/>
            <a:rect r="r" b="b" t="t" l="l"/>
            <a:pathLst>
              <a:path h="8947765" w="8947765">
                <a:moveTo>
                  <a:pt x="0" y="0"/>
                </a:moveTo>
                <a:lnTo>
                  <a:pt x="8947765" y="0"/>
                </a:lnTo>
                <a:lnTo>
                  <a:pt x="8947765" y="8947766"/>
                </a:lnTo>
                <a:lnTo>
                  <a:pt x="0" y="89477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45223" y="9456249"/>
            <a:ext cx="14565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64533" y="4169684"/>
            <a:ext cx="7687139" cy="973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3"/>
              </a:lnSpc>
              <a:spcBef>
                <a:spcPct val="0"/>
              </a:spcBef>
            </a:pPr>
            <a:r>
              <a:rPr lang="en-US" sz="5652">
                <a:solidFill>
                  <a:srgbClr val="473D34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Thesis 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448229"/>
            <a:ext cx="8979545" cy="5646007"/>
            <a:chOff x="0" y="0"/>
            <a:chExt cx="2703854" cy="17000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3854" cy="1700084"/>
            </a:xfrm>
            <a:custGeom>
              <a:avLst/>
              <a:gdLst/>
              <a:ahLst/>
              <a:cxnLst/>
              <a:rect r="r" b="b" t="t" l="l"/>
              <a:pathLst>
                <a:path h="1700084" w="2703854">
                  <a:moveTo>
                    <a:pt x="37073" y="0"/>
                  </a:moveTo>
                  <a:lnTo>
                    <a:pt x="2666780" y="0"/>
                  </a:lnTo>
                  <a:cubicBezTo>
                    <a:pt x="2676613" y="0"/>
                    <a:pt x="2686043" y="3906"/>
                    <a:pt x="2692995" y="10859"/>
                  </a:cubicBezTo>
                  <a:cubicBezTo>
                    <a:pt x="2699948" y="17811"/>
                    <a:pt x="2703854" y="27241"/>
                    <a:pt x="2703854" y="37073"/>
                  </a:cubicBezTo>
                  <a:lnTo>
                    <a:pt x="2703854" y="1663010"/>
                  </a:lnTo>
                  <a:cubicBezTo>
                    <a:pt x="2703854" y="1683485"/>
                    <a:pt x="2687255" y="1700084"/>
                    <a:pt x="2666780" y="1700084"/>
                  </a:cubicBezTo>
                  <a:lnTo>
                    <a:pt x="37073" y="1700084"/>
                  </a:lnTo>
                  <a:cubicBezTo>
                    <a:pt x="27241" y="1700084"/>
                    <a:pt x="17811" y="1696178"/>
                    <a:pt x="10859" y="1689225"/>
                  </a:cubicBezTo>
                  <a:cubicBezTo>
                    <a:pt x="3906" y="1682273"/>
                    <a:pt x="0" y="1672843"/>
                    <a:pt x="0" y="1663010"/>
                  </a:cubicBezTo>
                  <a:lnTo>
                    <a:pt x="0" y="37073"/>
                  </a:lnTo>
                  <a:cubicBezTo>
                    <a:pt x="0" y="27241"/>
                    <a:pt x="3906" y="17811"/>
                    <a:pt x="10859" y="10859"/>
                  </a:cubicBezTo>
                  <a:cubicBezTo>
                    <a:pt x="17811" y="3906"/>
                    <a:pt x="27241" y="0"/>
                    <a:pt x="37073" y="0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 w="28575" cap="rnd">
              <a:solidFill>
                <a:srgbClr val="D9D9D9">
                  <a:alpha val="80784"/>
                </a:srgbClr>
              </a:solidFill>
              <a:prstDash val="dash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03854" cy="17381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0175268" y="2857804"/>
            <a:ext cx="7427833" cy="4041970"/>
          </a:xfrm>
          <a:custGeom>
            <a:avLst/>
            <a:gdLst/>
            <a:ahLst/>
            <a:cxnLst/>
            <a:rect r="r" b="b" t="t" l="l"/>
            <a:pathLst>
              <a:path h="4041970" w="7427833">
                <a:moveTo>
                  <a:pt x="0" y="0"/>
                </a:moveTo>
                <a:lnTo>
                  <a:pt x="7427833" y="0"/>
                </a:lnTo>
                <a:lnTo>
                  <a:pt x="7427833" y="4041970"/>
                </a:lnTo>
                <a:lnTo>
                  <a:pt x="0" y="40419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4974" t="0" r="0" b="-8511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839799" y="9456249"/>
            <a:ext cx="15650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12732" y="9807943"/>
            <a:ext cx="2062537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Introduction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49139" y="1431522"/>
            <a:ext cx="2888788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Introduction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8919" y="2800654"/>
            <a:ext cx="8445286" cy="512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Digit</a:t>
            </a: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al healthcare focuses on continuous monitoring of patient health conditions.Traditional systems rely on centralized data collection, which raises privacy and scalability concerns.</a:t>
            </a:r>
          </a:p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With the increasing use of wearable devices and IoT sensors, healthcare systems must ensure:</a:t>
            </a:r>
          </a:p>
          <a:p>
            <a:pPr algn="just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Secure data handling</a:t>
            </a:r>
          </a:p>
          <a:p>
            <a:pPr algn="just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Matching</a:t>
            </a:r>
          </a:p>
          <a:p>
            <a:pPr algn="just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Real-time health analysis</a:t>
            </a:r>
          </a:p>
          <a:p>
            <a:pPr algn="just">
              <a:lnSpc>
                <a:spcPts val="406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374389" y="7027495"/>
            <a:ext cx="3399764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Fig 1:Digital twins for health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9139" y="2401194"/>
            <a:ext cx="9390725" cy="3948394"/>
            <a:chOff x="0" y="0"/>
            <a:chExt cx="2827665" cy="11889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27665" cy="1188911"/>
            </a:xfrm>
            <a:custGeom>
              <a:avLst/>
              <a:gdLst/>
              <a:ahLst/>
              <a:cxnLst/>
              <a:rect r="r" b="b" t="t" l="l"/>
              <a:pathLst>
                <a:path h="1188911" w="2827665">
                  <a:moveTo>
                    <a:pt x="35450" y="0"/>
                  </a:moveTo>
                  <a:lnTo>
                    <a:pt x="2792215" y="0"/>
                  </a:lnTo>
                  <a:cubicBezTo>
                    <a:pt x="2811794" y="0"/>
                    <a:pt x="2827665" y="15872"/>
                    <a:pt x="2827665" y="35450"/>
                  </a:cubicBezTo>
                  <a:lnTo>
                    <a:pt x="2827665" y="1153461"/>
                  </a:lnTo>
                  <a:cubicBezTo>
                    <a:pt x="2827665" y="1173040"/>
                    <a:pt x="2811794" y="1188911"/>
                    <a:pt x="2792215" y="1188911"/>
                  </a:cubicBezTo>
                  <a:lnTo>
                    <a:pt x="35450" y="1188911"/>
                  </a:lnTo>
                  <a:cubicBezTo>
                    <a:pt x="15872" y="1188911"/>
                    <a:pt x="0" y="1173040"/>
                    <a:pt x="0" y="1153461"/>
                  </a:cubicBezTo>
                  <a:lnTo>
                    <a:pt x="0" y="35450"/>
                  </a:lnTo>
                  <a:cubicBezTo>
                    <a:pt x="0" y="15872"/>
                    <a:pt x="15872" y="0"/>
                    <a:pt x="35450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6BBB1"/>
              </a:solidFill>
              <a:prstDash val="dash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27665" cy="1227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1167322" y="3340766"/>
            <a:ext cx="5671540" cy="4711279"/>
          </a:xfrm>
          <a:custGeom>
            <a:avLst/>
            <a:gdLst/>
            <a:ahLst/>
            <a:cxnLst/>
            <a:rect r="r" b="b" t="t" l="l"/>
            <a:pathLst>
              <a:path h="4711279" w="5671540">
                <a:moveTo>
                  <a:pt x="0" y="0"/>
                </a:moveTo>
                <a:lnTo>
                  <a:pt x="5671539" y="0"/>
                </a:lnTo>
                <a:lnTo>
                  <a:pt x="5671539" y="4711279"/>
                </a:lnTo>
                <a:lnTo>
                  <a:pt x="0" y="4711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832523" y="9456249"/>
            <a:ext cx="17105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12732" y="9807943"/>
            <a:ext cx="2062537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Introduction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49139" y="1411063"/>
            <a:ext cx="2818959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Backg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round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69017" y="2507743"/>
            <a:ext cx="8916822" cy="358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IoT devic</a:t>
            </a: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es and wearable sensors generate large volumes of healthcare data.</a:t>
            </a:r>
          </a:p>
          <a:p>
            <a:pPr algn="just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Centralized systems face privacy, security, and regulatory limitations.</a:t>
            </a:r>
          </a:p>
          <a:p>
            <a:pPr algn="just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Federated learning supports decentralized and secure data utilization.</a:t>
            </a:r>
          </a:p>
          <a:p>
            <a:pPr algn="just">
              <a:lnSpc>
                <a:spcPts val="406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534945" y="8013945"/>
            <a:ext cx="383708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Fig 2 : IOT Healthcare System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922758" y="2305069"/>
            <a:ext cx="6444033" cy="6326869"/>
          </a:xfrm>
          <a:custGeom>
            <a:avLst/>
            <a:gdLst/>
            <a:ahLst/>
            <a:cxnLst/>
            <a:rect r="r" b="b" t="t" l="l"/>
            <a:pathLst>
              <a:path h="6326869" w="6444033">
                <a:moveTo>
                  <a:pt x="0" y="0"/>
                </a:moveTo>
                <a:lnTo>
                  <a:pt x="6444033" y="0"/>
                </a:lnTo>
                <a:lnTo>
                  <a:pt x="6444033" y="6326869"/>
                </a:lnTo>
                <a:lnTo>
                  <a:pt x="0" y="63268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620681" y="3483326"/>
            <a:ext cx="8340939" cy="745131"/>
            <a:chOff x="0" y="0"/>
            <a:chExt cx="1945702" cy="1738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45702" cy="173818"/>
            </a:xfrm>
            <a:custGeom>
              <a:avLst/>
              <a:gdLst/>
              <a:ahLst/>
              <a:cxnLst/>
              <a:rect r="r" b="b" t="t" l="l"/>
              <a:pathLst>
                <a:path h="173818" w="1945702">
                  <a:moveTo>
                    <a:pt x="0" y="0"/>
                  </a:moveTo>
                  <a:lnTo>
                    <a:pt x="1945702" y="0"/>
                  </a:lnTo>
                  <a:lnTo>
                    <a:pt x="1945702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945702" cy="230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620681" y="5145654"/>
            <a:ext cx="8340939" cy="745131"/>
            <a:chOff x="0" y="0"/>
            <a:chExt cx="1945702" cy="1738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5702" cy="173818"/>
            </a:xfrm>
            <a:custGeom>
              <a:avLst/>
              <a:gdLst/>
              <a:ahLst/>
              <a:cxnLst/>
              <a:rect r="r" b="b" t="t" l="l"/>
              <a:pathLst>
                <a:path h="173818" w="1945702">
                  <a:moveTo>
                    <a:pt x="0" y="0"/>
                  </a:moveTo>
                  <a:lnTo>
                    <a:pt x="1945702" y="0"/>
                  </a:lnTo>
                  <a:lnTo>
                    <a:pt x="1945702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945702" cy="230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620681" y="4314490"/>
            <a:ext cx="8340939" cy="745131"/>
            <a:chOff x="0" y="0"/>
            <a:chExt cx="1945702" cy="1738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45702" cy="173818"/>
            </a:xfrm>
            <a:custGeom>
              <a:avLst/>
              <a:gdLst/>
              <a:ahLst/>
              <a:cxnLst/>
              <a:rect r="r" b="b" t="t" l="l"/>
              <a:pathLst>
                <a:path h="173818" w="1945702">
                  <a:moveTo>
                    <a:pt x="0" y="0"/>
                  </a:moveTo>
                  <a:lnTo>
                    <a:pt x="1945702" y="0"/>
                  </a:lnTo>
                  <a:lnTo>
                    <a:pt x="1945702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945702" cy="230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620681" y="5976819"/>
            <a:ext cx="8340939" cy="745131"/>
            <a:chOff x="0" y="0"/>
            <a:chExt cx="1945702" cy="1738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45702" cy="173818"/>
            </a:xfrm>
            <a:custGeom>
              <a:avLst/>
              <a:gdLst/>
              <a:ahLst/>
              <a:cxnLst/>
              <a:rect r="r" b="b" t="t" l="l"/>
              <a:pathLst>
                <a:path h="173818" w="1945702">
                  <a:moveTo>
                    <a:pt x="0" y="0"/>
                  </a:moveTo>
                  <a:lnTo>
                    <a:pt x="1945702" y="0"/>
                  </a:lnTo>
                  <a:lnTo>
                    <a:pt x="1945702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945702" cy="230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777681" y="3649425"/>
            <a:ext cx="412933" cy="412933"/>
            <a:chOff x="0" y="0"/>
            <a:chExt cx="96325" cy="963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325" cy="96325"/>
            </a:xfrm>
            <a:custGeom>
              <a:avLst/>
              <a:gdLst/>
              <a:ahLst/>
              <a:cxnLst/>
              <a:rect r="r" b="b" t="t" l="l"/>
              <a:pathLst>
                <a:path h="96325" w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C6BBB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6325" cy="13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777681" y="5311753"/>
            <a:ext cx="412933" cy="412933"/>
            <a:chOff x="0" y="0"/>
            <a:chExt cx="96325" cy="963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6325" cy="96325"/>
            </a:xfrm>
            <a:custGeom>
              <a:avLst/>
              <a:gdLst/>
              <a:ahLst/>
              <a:cxnLst/>
              <a:rect r="r" b="b" t="t" l="l"/>
              <a:pathLst>
                <a:path h="96325" w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C6BBB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6325" cy="13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777681" y="4480589"/>
            <a:ext cx="412933" cy="412933"/>
            <a:chOff x="0" y="0"/>
            <a:chExt cx="96325" cy="9632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6325" cy="96325"/>
            </a:xfrm>
            <a:custGeom>
              <a:avLst/>
              <a:gdLst/>
              <a:ahLst/>
              <a:cxnLst/>
              <a:rect r="r" b="b" t="t" l="l"/>
              <a:pathLst>
                <a:path h="96325" w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C6BBB1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6325" cy="13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777681" y="6142918"/>
            <a:ext cx="412933" cy="412933"/>
            <a:chOff x="0" y="0"/>
            <a:chExt cx="96325" cy="9632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325" cy="96325"/>
            </a:xfrm>
            <a:custGeom>
              <a:avLst/>
              <a:gdLst/>
              <a:ahLst/>
              <a:cxnLst/>
              <a:rect r="r" b="b" t="t" l="l"/>
              <a:pathLst>
                <a:path h="96325" w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C6BBB1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6325" cy="13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7841453" y="9456249"/>
            <a:ext cx="15319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5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112732" y="9807943"/>
            <a:ext cx="2062537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Introduction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54417" y="1431522"/>
            <a:ext cx="4646528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Pro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blem Statement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610066" y="3549186"/>
            <a:ext cx="6604948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2900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Lack of p</a:t>
            </a:r>
            <a:r>
              <a:rPr lang="en-US" sz="2900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atient-level personalization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610066" y="5211515"/>
            <a:ext cx="6604948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2900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Privacy risks </a:t>
            </a:r>
            <a:r>
              <a:rPr lang="en-US" sz="2900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in centralized learning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610066" y="4380350"/>
            <a:ext cx="7231094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2900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Fragm</a:t>
            </a:r>
            <a:r>
              <a:rPr lang="en-US" sz="2900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ented multimodal healthcare data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610066" y="6042679"/>
            <a:ext cx="701912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2900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Limi</a:t>
            </a:r>
            <a:r>
              <a:rPr lang="en-US" sz="2900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ted scalability of existing systems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9139" y="2928412"/>
            <a:ext cx="7694861" cy="5240044"/>
            <a:chOff x="0" y="0"/>
            <a:chExt cx="2317019" cy="15778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7019" cy="1577843"/>
            </a:xfrm>
            <a:custGeom>
              <a:avLst/>
              <a:gdLst/>
              <a:ahLst/>
              <a:cxnLst/>
              <a:rect r="r" b="b" t="t" l="l"/>
              <a:pathLst>
                <a:path h="1577843" w="2317019">
                  <a:moveTo>
                    <a:pt x="43263" y="0"/>
                  </a:moveTo>
                  <a:lnTo>
                    <a:pt x="2273756" y="0"/>
                  </a:lnTo>
                  <a:cubicBezTo>
                    <a:pt x="2285230" y="0"/>
                    <a:pt x="2296235" y="4558"/>
                    <a:pt x="2304348" y="12671"/>
                  </a:cubicBezTo>
                  <a:cubicBezTo>
                    <a:pt x="2312461" y="20785"/>
                    <a:pt x="2317019" y="31789"/>
                    <a:pt x="2317019" y="43263"/>
                  </a:cubicBezTo>
                  <a:lnTo>
                    <a:pt x="2317019" y="1534580"/>
                  </a:lnTo>
                  <a:cubicBezTo>
                    <a:pt x="2317019" y="1558474"/>
                    <a:pt x="2297650" y="1577843"/>
                    <a:pt x="2273756" y="1577843"/>
                  </a:cubicBezTo>
                  <a:lnTo>
                    <a:pt x="43263" y="1577843"/>
                  </a:lnTo>
                  <a:cubicBezTo>
                    <a:pt x="19369" y="1577843"/>
                    <a:pt x="0" y="1558474"/>
                    <a:pt x="0" y="1534580"/>
                  </a:cubicBezTo>
                  <a:lnTo>
                    <a:pt x="0" y="43263"/>
                  </a:lnTo>
                  <a:cubicBezTo>
                    <a:pt x="0" y="19369"/>
                    <a:pt x="19369" y="0"/>
                    <a:pt x="43263" y="0"/>
                  </a:cubicBezTo>
                  <a:close/>
                </a:path>
              </a:pathLst>
            </a:custGeom>
            <a:solidFill>
              <a:srgbClr val="FFFFFF">
                <a:alpha val="56863"/>
              </a:srgbClr>
            </a:solidFill>
            <a:ln w="28575" cap="rnd">
              <a:solidFill>
                <a:srgbClr val="D9D9D9">
                  <a:alpha val="56863"/>
                </a:srgbClr>
              </a:solidFill>
              <a:prstDash val="dash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17019" cy="1634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66489" y="2928412"/>
            <a:ext cx="8099716" cy="5240044"/>
            <a:chOff x="0" y="0"/>
            <a:chExt cx="2438926" cy="15778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926" cy="1577843"/>
            </a:xfrm>
            <a:custGeom>
              <a:avLst/>
              <a:gdLst/>
              <a:ahLst/>
              <a:cxnLst/>
              <a:rect r="r" b="b" t="t" l="l"/>
              <a:pathLst>
                <a:path h="1577843" w="2438926">
                  <a:moveTo>
                    <a:pt x="41101" y="0"/>
                  </a:moveTo>
                  <a:lnTo>
                    <a:pt x="2397826" y="0"/>
                  </a:lnTo>
                  <a:cubicBezTo>
                    <a:pt x="2408726" y="0"/>
                    <a:pt x="2419180" y="4330"/>
                    <a:pt x="2426888" y="12038"/>
                  </a:cubicBezTo>
                  <a:cubicBezTo>
                    <a:pt x="2434596" y="19746"/>
                    <a:pt x="2438926" y="30200"/>
                    <a:pt x="2438926" y="41101"/>
                  </a:cubicBezTo>
                  <a:lnTo>
                    <a:pt x="2438926" y="1536743"/>
                  </a:lnTo>
                  <a:cubicBezTo>
                    <a:pt x="2438926" y="1547643"/>
                    <a:pt x="2434596" y="1558097"/>
                    <a:pt x="2426888" y="1565805"/>
                  </a:cubicBezTo>
                  <a:cubicBezTo>
                    <a:pt x="2419180" y="1573513"/>
                    <a:pt x="2408726" y="1577843"/>
                    <a:pt x="2397826" y="1577843"/>
                  </a:cubicBezTo>
                  <a:lnTo>
                    <a:pt x="41101" y="1577843"/>
                  </a:lnTo>
                  <a:cubicBezTo>
                    <a:pt x="30200" y="1577843"/>
                    <a:pt x="19746" y="1573513"/>
                    <a:pt x="12038" y="1565805"/>
                  </a:cubicBezTo>
                  <a:cubicBezTo>
                    <a:pt x="4330" y="1558097"/>
                    <a:pt x="0" y="1547643"/>
                    <a:pt x="0" y="1536743"/>
                  </a:cubicBezTo>
                  <a:lnTo>
                    <a:pt x="0" y="41101"/>
                  </a:lnTo>
                  <a:cubicBezTo>
                    <a:pt x="0" y="30200"/>
                    <a:pt x="4330" y="19746"/>
                    <a:pt x="12038" y="12038"/>
                  </a:cubicBezTo>
                  <a:cubicBezTo>
                    <a:pt x="19746" y="4330"/>
                    <a:pt x="30200" y="0"/>
                    <a:pt x="41101" y="0"/>
                  </a:cubicBezTo>
                  <a:close/>
                </a:path>
              </a:pathLst>
            </a:custGeom>
            <a:solidFill>
              <a:srgbClr val="FFFFFF">
                <a:alpha val="56863"/>
              </a:srgbClr>
            </a:solidFill>
            <a:ln w="28575" cap="rnd">
              <a:solidFill>
                <a:srgbClr val="D9D9D9">
                  <a:alpha val="56863"/>
                </a:srgbClr>
              </a:solidFill>
              <a:prstDash val="dash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438926" cy="1634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7837220" y="9456249"/>
            <a:ext cx="16166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12732" y="9807943"/>
            <a:ext cx="2062537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Introduction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9139" y="1411063"/>
            <a:ext cx="6483762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M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otivation And  Objectives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06383" y="3247106"/>
            <a:ext cx="1889787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Objectives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592551" y="3283396"/>
            <a:ext cx="196466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Motivation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68960" y="4297966"/>
            <a:ext cx="7293504" cy="204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✓ Need for continuous healthcare monitoring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✓ Increasing privacy regulations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✓ Demand for secure data sharing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✓ Need for scalable healthcare intelligence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86793" y="4069080"/>
            <a:ext cx="7779412" cy="358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✓ To design a federated digital twin framework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    for healthcare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✓ To integrate multimodal vital sign data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✓ To preserve privacy using federated learning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✓ To enable real-time health risk prediction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✓ To validate system performance 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     experimentally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57169" y="0"/>
            <a:ext cx="11663101" cy="9607480"/>
          </a:xfrm>
          <a:custGeom>
            <a:avLst/>
            <a:gdLst/>
            <a:ahLst/>
            <a:cxnLst/>
            <a:rect r="r" b="b" t="t" l="l"/>
            <a:pathLst>
              <a:path h="9607480" w="11663101">
                <a:moveTo>
                  <a:pt x="0" y="0"/>
                </a:moveTo>
                <a:lnTo>
                  <a:pt x="11663102" y="0"/>
                </a:lnTo>
                <a:lnTo>
                  <a:pt x="11663102" y="9607480"/>
                </a:lnTo>
                <a:lnTo>
                  <a:pt x="0" y="96074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841850" y="9456249"/>
            <a:ext cx="15240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24895" y="4198259"/>
            <a:ext cx="614190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473D34"/>
                </a:solidFill>
                <a:latin typeface="Archivo Black"/>
                <a:ea typeface="Archivo Black"/>
                <a:cs typeface="Archivo Black"/>
                <a:sym typeface="Archivo Black"/>
              </a:rPr>
              <a:t> Literature Review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3924528" y="4923091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5"/>
                </a:lnTo>
                <a:lnTo>
                  <a:pt x="0" y="7418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57933" y="2231742"/>
            <a:ext cx="13994679" cy="5738350"/>
            <a:chOff x="0" y="0"/>
            <a:chExt cx="4213974" cy="17278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13974" cy="1727889"/>
            </a:xfrm>
            <a:custGeom>
              <a:avLst/>
              <a:gdLst/>
              <a:ahLst/>
              <a:cxnLst/>
              <a:rect r="r" b="b" t="t" l="l"/>
              <a:pathLst>
                <a:path h="1727889" w="4213974">
                  <a:moveTo>
                    <a:pt x="23788" y="0"/>
                  </a:moveTo>
                  <a:lnTo>
                    <a:pt x="4190186" y="0"/>
                  </a:lnTo>
                  <a:cubicBezTo>
                    <a:pt x="4203324" y="0"/>
                    <a:pt x="4213974" y="10650"/>
                    <a:pt x="4213974" y="23788"/>
                  </a:cubicBezTo>
                  <a:lnTo>
                    <a:pt x="4213974" y="1704101"/>
                  </a:lnTo>
                  <a:cubicBezTo>
                    <a:pt x="4213974" y="1717239"/>
                    <a:pt x="4203324" y="1727889"/>
                    <a:pt x="4190186" y="1727889"/>
                  </a:cubicBezTo>
                  <a:lnTo>
                    <a:pt x="23788" y="1727889"/>
                  </a:lnTo>
                  <a:cubicBezTo>
                    <a:pt x="10650" y="1727889"/>
                    <a:pt x="0" y="1717239"/>
                    <a:pt x="0" y="1704101"/>
                  </a:cubicBezTo>
                  <a:lnTo>
                    <a:pt x="0" y="23788"/>
                  </a:lnTo>
                  <a:cubicBezTo>
                    <a:pt x="0" y="10650"/>
                    <a:pt x="10650" y="0"/>
                    <a:pt x="23788" y="0"/>
                  </a:cubicBezTo>
                  <a:close/>
                </a:path>
              </a:pathLst>
            </a:custGeom>
            <a:solidFill>
              <a:srgbClr val="FFFFFF">
                <a:alpha val="56863"/>
              </a:srgbClr>
            </a:solidFill>
            <a:ln w="28575" cap="rnd">
              <a:solidFill>
                <a:srgbClr val="D9D9D9">
                  <a:alpha val="56863"/>
                </a:srgbClr>
              </a:solidFill>
              <a:prstDash val="dash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13974" cy="17659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7837616" y="9456249"/>
            <a:ext cx="16086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12732" y="9807943"/>
            <a:ext cx="2062537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Literature Review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9139" y="1411063"/>
            <a:ext cx="4189652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Literature Review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50610" y="2447831"/>
            <a:ext cx="12938266" cy="512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Existing studies show that dig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ital twin technology is effective for personalized healthcare monitori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ng.</a:t>
            </a:r>
          </a:p>
          <a:p>
            <a:pPr algn="just">
              <a:lnSpc>
                <a:spcPts val="4060"/>
              </a:lnSpc>
            </a:pPr>
          </a:p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Federated learning and multimodal data analysis ar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 also widely use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 to improve prediction accuracy while preserving data privacy.</a:t>
            </a:r>
          </a:p>
          <a:p>
            <a:pPr algn="just">
              <a:lnSpc>
                <a:spcPts val="4060"/>
              </a:lnSpc>
            </a:pPr>
          </a:p>
          <a:p>
            <a:pPr algn="just">
              <a:lnSpc>
                <a:spcPts val="4060"/>
              </a:lnSpc>
            </a:pPr>
            <a:r>
              <a:rPr lang="en-US" b="true" sz="29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K</a:t>
            </a:r>
            <a:r>
              <a:rPr lang="en-US" b="true" sz="29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ey Points:</a:t>
            </a:r>
          </a:p>
          <a:p>
            <a:pPr algn="just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Digital twins enable patient-centric health modeling</a:t>
            </a:r>
          </a:p>
          <a:p>
            <a:pPr algn="just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Federated learning supports secure, privacy-preserving analytics</a:t>
            </a:r>
          </a:p>
          <a:p>
            <a:pPr algn="just">
              <a:lnSpc>
                <a:spcPts val="406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6046" y="3675336"/>
            <a:ext cx="8315263" cy="5562442"/>
            <a:chOff x="0" y="0"/>
            <a:chExt cx="2503830" cy="16749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03830" cy="1674921"/>
            </a:xfrm>
            <a:custGeom>
              <a:avLst/>
              <a:gdLst/>
              <a:ahLst/>
              <a:cxnLst/>
              <a:rect r="r" b="b" t="t" l="l"/>
              <a:pathLst>
                <a:path h="1674921" w="2503830">
                  <a:moveTo>
                    <a:pt x="40035" y="0"/>
                  </a:moveTo>
                  <a:lnTo>
                    <a:pt x="2463795" y="0"/>
                  </a:lnTo>
                  <a:cubicBezTo>
                    <a:pt x="2474413" y="0"/>
                    <a:pt x="2484596" y="4218"/>
                    <a:pt x="2492104" y="11726"/>
                  </a:cubicBezTo>
                  <a:cubicBezTo>
                    <a:pt x="2499612" y="19234"/>
                    <a:pt x="2503830" y="29417"/>
                    <a:pt x="2503830" y="40035"/>
                  </a:cubicBezTo>
                  <a:lnTo>
                    <a:pt x="2503830" y="1634886"/>
                  </a:lnTo>
                  <a:cubicBezTo>
                    <a:pt x="2503830" y="1645504"/>
                    <a:pt x="2499612" y="1655687"/>
                    <a:pt x="2492104" y="1663195"/>
                  </a:cubicBezTo>
                  <a:cubicBezTo>
                    <a:pt x="2484596" y="1670703"/>
                    <a:pt x="2474413" y="1674921"/>
                    <a:pt x="2463795" y="1674921"/>
                  </a:cubicBezTo>
                  <a:lnTo>
                    <a:pt x="40035" y="1674921"/>
                  </a:lnTo>
                  <a:cubicBezTo>
                    <a:pt x="29417" y="1674921"/>
                    <a:pt x="19234" y="1670703"/>
                    <a:pt x="11726" y="1663195"/>
                  </a:cubicBezTo>
                  <a:cubicBezTo>
                    <a:pt x="4218" y="1655687"/>
                    <a:pt x="0" y="1645504"/>
                    <a:pt x="0" y="1634886"/>
                  </a:cubicBezTo>
                  <a:lnTo>
                    <a:pt x="0" y="40035"/>
                  </a:lnTo>
                  <a:cubicBezTo>
                    <a:pt x="0" y="29417"/>
                    <a:pt x="4218" y="19234"/>
                    <a:pt x="11726" y="11726"/>
                  </a:cubicBezTo>
                  <a:cubicBezTo>
                    <a:pt x="19234" y="4218"/>
                    <a:pt x="29417" y="0"/>
                    <a:pt x="40035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D9D9D9"/>
              </a:solidFill>
              <a:prstDash val="dash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503830" cy="1713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87838" y="3675336"/>
            <a:ext cx="8549381" cy="5562442"/>
            <a:chOff x="0" y="0"/>
            <a:chExt cx="2574326" cy="16749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74326" cy="1674921"/>
            </a:xfrm>
            <a:custGeom>
              <a:avLst/>
              <a:gdLst/>
              <a:ahLst/>
              <a:cxnLst/>
              <a:rect r="r" b="b" t="t" l="l"/>
              <a:pathLst>
                <a:path h="1674921" w="2574326">
                  <a:moveTo>
                    <a:pt x="38939" y="0"/>
                  </a:moveTo>
                  <a:lnTo>
                    <a:pt x="2535387" y="0"/>
                  </a:lnTo>
                  <a:cubicBezTo>
                    <a:pt x="2556893" y="0"/>
                    <a:pt x="2574326" y="17433"/>
                    <a:pt x="2574326" y="38939"/>
                  </a:cubicBezTo>
                  <a:lnTo>
                    <a:pt x="2574326" y="1635983"/>
                  </a:lnTo>
                  <a:cubicBezTo>
                    <a:pt x="2574326" y="1657488"/>
                    <a:pt x="2556893" y="1674921"/>
                    <a:pt x="2535387" y="1674921"/>
                  </a:cubicBezTo>
                  <a:lnTo>
                    <a:pt x="38939" y="1674921"/>
                  </a:lnTo>
                  <a:cubicBezTo>
                    <a:pt x="17433" y="1674921"/>
                    <a:pt x="0" y="1657488"/>
                    <a:pt x="0" y="1635983"/>
                  </a:cubicBezTo>
                  <a:lnTo>
                    <a:pt x="0" y="38939"/>
                  </a:lnTo>
                  <a:cubicBezTo>
                    <a:pt x="0" y="17433"/>
                    <a:pt x="17433" y="0"/>
                    <a:pt x="389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D9D9D9"/>
              </a:solidFill>
              <a:prstDash val="dash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574326" cy="1713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7837220" y="9456249"/>
            <a:ext cx="16166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9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12732" y="9807943"/>
            <a:ext cx="2062537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Literature Review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9139" y="1411063"/>
            <a:ext cx="4837419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elated Studies (1/3)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4616710"/>
            <a:ext cx="7922863" cy="462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Introdu</a:t>
            </a: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ced a holistic architecture for mobile AIGC-powered digital twins in healthcare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Outlined lifecycle stages: data collection, management, training, and inference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Explored real-world use cases, including virtual physical therapy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Provided insights and open questions to inspire future research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812712" y="3756882"/>
            <a:ext cx="2413926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Contributions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17118" y="4616710"/>
            <a:ext cx="8185983" cy="410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</a:t>
            </a: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Silos: Fragmented medical data limits collaboration; secure sharing is needed.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Cross-Modal Complexity: Difficult to align text, images, and signals effectively.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</a:t>
            </a: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odel Efficiency: Large models increase energy and bandwidth costs; lightweight solutions are essential.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412073" y="3756882"/>
            <a:ext cx="2066793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Limi</a:t>
            </a:r>
            <a:r>
              <a:rPr lang="en-US" b="true" sz="29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tations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22306" y="2593050"/>
            <a:ext cx="15718004" cy="482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  <a:spcBef>
                <a:spcPct val="0"/>
              </a:spcBef>
            </a:pPr>
            <a:r>
              <a:rPr lang="en-US" sz="276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 Revolution of Personalized Healthcare: Enabling Human Digital Twin With Mobile AIGC[1]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8737" y="3164460"/>
            <a:ext cx="8315263" cy="5838046"/>
            <a:chOff x="0" y="0"/>
            <a:chExt cx="2503830" cy="17579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03830" cy="1757909"/>
            </a:xfrm>
            <a:custGeom>
              <a:avLst/>
              <a:gdLst/>
              <a:ahLst/>
              <a:cxnLst/>
              <a:rect r="r" b="b" t="t" l="l"/>
              <a:pathLst>
                <a:path h="1757909" w="2503830">
                  <a:moveTo>
                    <a:pt x="40035" y="0"/>
                  </a:moveTo>
                  <a:lnTo>
                    <a:pt x="2463795" y="0"/>
                  </a:lnTo>
                  <a:cubicBezTo>
                    <a:pt x="2474413" y="0"/>
                    <a:pt x="2484596" y="4218"/>
                    <a:pt x="2492104" y="11726"/>
                  </a:cubicBezTo>
                  <a:cubicBezTo>
                    <a:pt x="2499612" y="19234"/>
                    <a:pt x="2503830" y="29417"/>
                    <a:pt x="2503830" y="40035"/>
                  </a:cubicBezTo>
                  <a:lnTo>
                    <a:pt x="2503830" y="1717874"/>
                  </a:lnTo>
                  <a:cubicBezTo>
                    <a:pt x="2503830" y="1739985"/>
                    <a:pt x="2485906" y="1757909"/>
                    <a:pt x="2463795" y="1757909"/>
                  </a:cubicBezTo>
                  <a:lnTo>
                    <a:pt x="40035" y="1757909"/>
                  </a:lnTo>
                  <a:cubicBezTo>
                    <a:pt x="29417" y="1757909"/>
                    <a:pt x="19234" y="1753691"/>
                    <a:pt x="11726" y="1746183"/>
                  </a:cubicBezTo>
                  <a:cubicBezTo>
                    <a:pt x="4218" y="1738675"/>
                    <a:pt x="0" y="1728492"/>
                    <a:pt x="0" y="1717874"/>
                  </a:cubicBezTo>
                  <a:lnTo>
                    <a:pt x="0" y="40035"/>
                  </a:lnTo>
                  <a:cubicBezTo>
                    <a:pt x="0" y="29417"/>
                    <a:pt x="4218" y="19234"/>
                    <a:pt x="11726" y="11726"/>
                  </a:cubicBezTo>
                  <a:cubicBezTo>
                    <a:pt x="19234" y="4218"/>
                    <a:pt x="29417" y="0"/>
                    <a:pt x="40035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D9D9D9"/>
              </a:solidFill>
              <a:prstDash val="dash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503830" cy="1796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7786684" y="9456249"/>
            <a:ext cx="26273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10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12732" y="9807943"/>
            <a:ext cx="2062537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Literature Review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4391" y="1411063"/>
            <a:ext cx="4946914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elated Studies (2/3)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8954" y="4126654"/>
            <a:ext cx="8165282" cy="513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Introdu</a:t>
            </a: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ced core concepts of Digital Twins in healthcare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Propos</a:t>
            </a: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ed reference architecture for cyber-physical healthcare systems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Explored DT applications in precision medicine and patient modeling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</a:t>
            </a: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viewed current trends and challenges in healthcare DT research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239317" y="3266826"/>
            <a:ext cx="2413926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Contributions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343963" y="3164460"/>
            <a:ext cx="8315263" cy="5838046"/>
            <a:chOff x="0" y="0"/>
            <a:chExt cx="2503830" cy="17579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03830" cy="1757909"/>
            </a:xfrm>
            <a:custGeom>
              <a:avLst/>
              <a:gdLst/>
              <a:ahLst/>
              <a:cxnLst/>
              <a:rect r="r" b="b" t="t" l="l"/>
              <a:pathLst>
                <a:path h="1757909" w="2503830">
                  <a:moveTo>
                    <a:pt x="40035" y="0"/>
                  </a:moveTo>
                  <a:lnTo>
                    <a:pt x="2463795" y="0"/>
                  </a:lnTo>
                  <a:cubicBezTo>
                    <a:pt x="2474413" y="0"/>
                    <a:pt x="2484596" y="4218"/>
                    <a:pt x="2492104" y="11726"/>
                  </a:cubicBezTo>
                  <a:cubicBezTo>
                    <a:pt x="2499612" y="19234"/>
                    <a:pt x="2503830" y="29417"/>
                    <a:pt x="2503830" y="40035"/>
                  </a:cubicBezTo>
                  <a:lnTo>
                    <a:pt x="2503830" y="1717874"/>
                  </a:lnTo>
                  <a:cubicBezTo>
                    <a:pt x="2503830" y="1739985"/>
                    <a:pt x="2485906" y="1757909"/>
                    <a:pt x="2463795" y="1757909"/>
                  </a:cubicBezTo>
                  <a:lnTo>
                    <a:pt x="40035" y="1757909"/>
                  </a:lnTo>
                  <a:cubicBezTo>
                    <a:pt x="29417" y="1757909"/>
                    <a:pt x="19234" y="1753691"/>
                    <a:pt x="11726" y="1746183"/>
                  </a:cubicBezTo>
                  <a:cubicBezTo>
                    <a:pt x="4218" y="1738675"/>
                    <a:pt x="0" y="1728492"/>
                    <a:pt x="0" y="1717874"/>
                  </a:cubicBezTo>
                  <a:lnTo>
                    <a:pt x="0" y="40035"/>
                  </a:lnTo>
                  <a:cubicBezTo>
                    <a:pt x="0" y="29417"/>
                    <a:pt x="4218" y="19234"/>
                    <a:pt x="11726" y="11726"/>
                  </a:cubicBezTo>
                  <a:cubicBezTo>
                    <a:pt x="19234" y="4218"/>
                    <a:pt x="29417" y="0"/>
                    <a:pt x="40035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D9D9D9"/>
              </a:solidFill>
              <a:prstDash val="dash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03830" cy="1796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343963" y="3867089"/>
            <a:ext cx="8165282" cy="513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Lack of r</a:t>
            </a: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eal-time data processing in clinical settings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Weak interoperability across healthcare systems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Challenges in maintaining data privacy and quality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Limited personalization in treatment modeling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High computational cost for dynamic digital twins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468198" y="3143283"/>
            <a:ext cx="2066793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Limi</a:t>
            </a:r>
            <a:r>
              <a:rPr lang="en-US" b="true" sz="29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tations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60428" y="2320299"/>
            <a:ext cx="15718004" cy="482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  <a:spcBef>
                <a:spcPct val="0"/>
              </a:spcBef>
            </a:pPr>
            <a:r>
              <a:rPr lang="en-US" sz="276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Digital Twins for Cyber-Physical Healthcare Systems.[2]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333501"/>
            <a:ext cx="8315263" cy="4981959"/>
            <a:chOff x="0" y="0"/>
            <a:chExt cx="2503830" cy="15001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03830" cy="1500130"/>
            </a:xfrm>
            <a:custGeom>
              <a:avLst/>
              <a:gdLst/>
              <a:ahLst/>
              <a:cxnLst/>
              <a:rect r="r" b="b" t="t" l="l"/>
              <a:pathLst>
                <a:path h="1500130" w="2503830">
                  <a:moveTo>
                    <a:pt x="40035" y="0"/>
                  </a:moveTo>
                  <a:lnTo>
                    <a:pt x="2463795" y="0"/>
                  </a:lnTo>
                  <a:cubicBezTo>
                    <a:pt x="2474413" y="0"/>
                    <a:pt x="2484596" y="4218"/>
                    <a:pt x="2492104" y="11726"/>
                  </a:cubicBezTo>
                  <a:cubicBezTo>
                    <a:pt x="2499612" y="19234"/>
                    <a:pt x="2503830" y="29417"/>
                    <a:pt x="2503830" y="40035"/>
                  </a:cubicBezTo>
                  <a:lnTo>
                    <a:pt x="2503830" y="1460095"/>
                  </a:lnTo>
                  <a:cubicBezTo>
                    <a:pt x="2503830" y="1470713"/>
                    <a:pt x="2499612" y="1480896"/>
                    <a:pt x="2492104" y="1488404"/>
                  </a:cubicBezTo>
                  <a:cubicBezTo>
                    <a:pt x="2484596" y="1495912"/>
                    <a:pt x="2474413" y="1500130"/>
                    <a:pt x="2463795" y="1500130"/>
                  </a:cubicBezTo>
                  <a:lnTo>
                    <a:pt x="40035" y="1500130"/>
                  </a:lnTo>
                  <a:cubicBezTo>
                    <a:pt x="29417" y="1500130"/>
                    <a:pt x="19234" y="1495912"/>
                    <a:pt x="11726" y="1488404"/>
                  </a:cubicBezTo>
                  <a:cubicBezTo>
                    <a:pt x="4218" y="1480896"/>
                    <a:pt x="0" y="1470713"/>
                    <a:pt x="0" y="1460095"/>
                  </a:cubicBezTo>
                  <a:lnTo>
                    <a:pt x="0" y="40035"/>
                  </a:lnTo>
                  <a:cubicBezTo>
                    <a:pt x="0" y="29417"/>
                    <a:pt x="4218" y="19234"/>
                    <a:pt x="11726" y="11726"/>
                  </a:cubicBezTo>
                  <a:cubicBezTo>
                    <a:pt x="19234" y="4218"/>
                    <a:pt x="29417" y="0"/>
                    <a:pt x="40035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D9D9D9"/>
              </a:solidFill>
              <a:prstDash val="dash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503830" cy="1538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43963" y="3333501"/>
            <a:ext cx="8485386" cy="4981959"/>
            <a:chOff x="0" y="0"/>
            <a:chExt cx="2555056" cy="15001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5056" cy="1500130"/>
            </a:xfrm>
            <a:custGeom>
              <a:avLst/>
              <a:gdLst/>
              <a:ahLst/>
              <a:cxnLst/>
              <a:rect r="r" b="b" t="t" l="l"/>
              <a:pathLst>
                <a:path h="1500130" w="2555056">
                  <a:moveTo>
                    <a:pt x="39232" y="0"/>
                  </a:moveTo>
                  <a:lnTo>
                    <a:pt x="2515824" y="0"/>
                  </a:lnTo>
                  <a:cubicBezTo>
                    <a:pt x="2526229" y="0"/>
                    <a:pt x="2536208" y="4133"/>
                    <a:pt x="2543565" y="11491"/>
                  </a:cubicBezTo>
                  <a:cubicBezTo>
                    <a:pt x="2550923" y="18848"/>
                    <a:pt x="2555056" y="28827"/>
                    <a:pt x="2555056" y="39232"/>
                  </a:cubicBezTo>
                  <a:lnTo>
                    <a:pt x="2555056" y="1460898"/>
                  </a:lnTo>
                  <a:cubicBezTo>
                    <a:pt x="2555056" y="1482565"/>
                    <a:pt x="2537491" y="1500130"/>
                    <a:pt x="2515824" y="1500130"/>
                  </a:cubicBezTo>
                  <a:lnTo>
                    <a:pt x="39232" y="1500130"/>
                  </a:lnTo>
                  <a:cubicBezTo>
                    <a:pt x="17565" y="1500130"/>
                    <a:pt x="0" y="1482565"/>
                    <a:pt x="0" y="1460898"/>
                  </a:cubicBezTo>
                  <a:lnTo>
                    <a:pt x="0" y="39232"/>
                  </a:lnTo>
                  <a:cubicBezTo>
                    <a:pt x="0" y="17565"/>
                    <a:pt x="17565" y="0"/>
                    <a:pt x="39232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D9D9D9"/>
              </a:solidFill>
              <a:prstDash val="dash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555056" cy="1538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7829348" y="9456249"/>
            <a:ext cx="17740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11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12732" y="9807943"/>
            <a:ext cx="2062537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Literature Review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0758" y="1411063"/>
            <a:ext cx="4954181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elated Studies (3/3)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8719" y="3978756"/>
            <a:ext cx="8315263" cy="359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Real-tim</a:t>
            </a: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 monitoring using AI and sensor data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MXBoost mod</a:t>
            </a: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el for accurate health predictions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MDT framework with cloud, IoT, and security layers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Autocorrelation analysis for long-term trends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Rolling average smoothing for stable forecasts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4019322" y="3366617"/>
            <a:ext cx="2413926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Contributions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93944" y="3978756"/>
            <a:ext cx="7765356" cy="462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No federa</a:t>
            </a: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ted learning; only central training.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Personalization limited to body data.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Requires i</a:t>
            </a: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nternet; not for offline or rural areas.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Uses basic RSA e</a:t>
            </a: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ncryption; no advanced privacy.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Tested on small group (20 people) and one dataset.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600240" y="3366617"/>
            <a:ext cx="2066793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Limi</a:t>
            </a:r>
            <a:r>
              <a:rPr lang="en-US" b="true" sz="29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tations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4980" y="2102993"/>
            <a:ext cx="15718004" cy="145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1"/>
              </a:lnSpc>
              <a:spcBef>
                <a:spcPct val="0"/>
              </a:spcBef>
            </a:pPr>
            <a:r>
              <a:rPr lang="en-US" sz="276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 digital twin framework for real‑time healthcare monitoring: leveraging AI and secure systems for enhanced patient outcomes[3]</a:t>
            </a:r>
          </a:p>
          <a:p>
            <a:pPr algn="ctr">
              <a:lnSpc>
                <a:spcPts val="387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21011" y="2496417"/>
            <a:ext cx="12623340" cy="4387288"/>
            <a:chOff x="0" y="0"/>
            <a:chExt cx="3801046" cy="13210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01046" cy="1321068"/>
            </a:xfrm>
            <a:custGeom>
              <a:avLst/>
              <a:gdLst/>
              <a:ahLst/>
              <a:cxnLst/>
              <a:rect r="r" b="b" t="t" l="l"/>
              <a:pathLst>
                <a:path h="1321068" w="3801046">
                  <a:moveTo>
                    <a:pt x="26372" y="0"/>
                  </a:moveTo>
                  <a:lnTo>
                    <a:pt x="3774674" y="0"/>
                  </a:lnTo>
                  <a:cubicBezTo>
                    <a:pt x="3789239" y="0"/>
                    <a:pt x="3801046" y="11807"/>
                    <a:pt x="3801046" y="26372"/>
                  </a:cubicBezTo>
                  <a:lnTo>
                    <a:pt x="3801046" y="1294696"/>
                  </a:lnTo>
                  <a:cubicBezTo>
                    <a:pt x="3801046" y="1301690"/>
                    <a:pt x="3798268" y="1308398"/>
                    <a:pt x="3793322" y="1313344"/>
                  </a:cubicBezTo>
                  <a:cubicBezTo>
                    <a:pt x="3788377" y="1318289"/>
                    <a:pt x="3781668" y="1321068"/>
                    <a:pt x="3774674" y="1321068"/>
                  </a:cubicBezTo>
                  <a:lnTo>
                    <a:pt x="26372" y="1321068"/>
                  </a:lnTo>
                  <a:cubicBezTo>
                    <a:pt x="11807" y="1321068"/>
                    <a:pt x="0" y="1309261"/>
                    <a:pt x="0" y="1294696"/>
                  </a:cubicBezTo>
                  <a:lnTo>
                    <a:pt x="0" y="26372"/>
                  </a:lnTo>
                  <a:cubicBezTo>
                    <a:pt x="0" y="11807"/>
                    <a:pt x="11807" y="0"/>
                    <a:pt x="26372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D9D9D9"/>
              </a:solidFill>
              <a:prstDash val="dash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01046" cy="1359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7800906" y="9456249"/>
            <a:ext cx="23428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12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12732" y="9807943"/>
            <a:ext cx="2062537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Literature Review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9139" y="1411063"/>
            <a:ext cx="3545572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Res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earch Gap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57221" y="2868328"/>
            <a:ext cx="11945908" cy="358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Existing digital twin models are mostly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centralize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 and generic.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Multimodal healthcare data are not effectively fused in current systems.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Privacy-pr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eserving learning is applied without personalization.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complete federated digital twin framework for real-time healthcare monitoring is still missing.</a:t>
            </a:r>
          </a:p>
          <a:p>
            <a:pPr algn="l">
              <a:lnSpc>
                <a:spcPts val="406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795482" y="9456249"/>
            <a:ext cx="24513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13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12543" y="4198259"/>
            <a:ext cx="3766608" cy="730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  <a:spcBef>
                <a:spcPct val="0"/>
              </a:spcBef>
            </a:pPr>
            <a:r>
              <a:rPr lang="en-US" sz="4226">
                <a:solidFill>
                  <a:srgbClr val="473D34"/>
                </a:solidFill>
                <a:latin typeface="Archivo Black"/>
                <a:ea typeface="Archivo Black"/>
                <a:cs typeface="Archivo Black"/>
                <a:sym typeface="Archivo Black"/>
              </a:rPr>
              <a:t>M</a:t>
            </a:r>
            <a:r>
              <a:rPr lang="en-US" sz="4226">
                <a:solidFill>
                  <a:srgbClr val="473D34"/>
                </a:solidFill>
                <a:latin typeface="Archivo Black"/>
                <a:ea typeface="Archivo Black"/>
                <a:cs typeface="Archivo Black"/>
                <a:sym typeface="Archivo Black"/>
              </a:rPr>
              <a:t>ethodology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2795018" y="2209164"/>
            <a:ext cx="4060007" cy="2706671"/>
            <a:chOff x="0" y="0"/>
            <a:chExt cx="19812000" cy="13208000"/>
          </a:xfrm>
        </p:grpSpPr>
        <p:sp>
          <p:nvSpPr>
            <p:cNvPr name="Freeform 9" id="9"/>
            <p:cNvSpPr/>
            <p:nvPr/>
          </p:nvSpPr>
          <p:spPr>
            <a:xfrm flipH="false" flipV="true" rot="0">
              <a:off x="0" y="0"/>
              <a:ext cx="19812000" cy="13208000"/>
            </a:xfrm>
            <a:custGeom>
              <a:avLst/>
              <a:gdLst/>
              <a:ahLst/>
              <a:cxnLst/>
              <a:rect r="r" b="b" t="t" l="l"/>
              <a:pathLst>
                <a:path h="13208000" w="19812000">
                  <a:moveTo>
                    <a:pt x="0" y="13208000"/>
                  </a:moveTo>
                  <a:lnTo>
                    <a:pt x="19812000" y="13208000"/>
                  </a:lnTo>
                  <a:lnTo>
                    <a:pt x="19812000" y="0"/>
                  </a:lnTo>
                  <a:lnTo>
                    <a:pt x="0" y="0"/>
                  </a:lnTo>
                  <a:lnTo>
                    <a:pt x="0" y="1320800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10098" y="7461146"/>
            <a:ext cx="2433401" cy="1444425"/>
            <a:chOff x="0" y="0"/>
            <a:chExt cx="11874500" cy="7048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74500" cy="7048500"/>
            </a:xfrm>
            <a:custGeom>
              <a:avLst/>
              <a:gdLst/>
              <a:ahLst/>
              <a:cxnLst/>
              <a:rect r="r" b="b" t="t" l="l"/>
              <a:pathLst>
                <a:path h="7048500" w="11874500">
                  <a:moveTo>
                    <a:pt x="0" y="0"/>
                  </a:moveTo>
                  <a:lnTo>
                    <a:pt x="11874500" y="0"/>
                  </a:lnTo>
                  <a:lnTo>
                    <a:pt x="11874500" y="7048500"/>
                  </a:lnTo>
                  <a:lnTo>
                    <a:pt x="0" y="7048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2988843" y="7439092"/>
            <a:ext cx="2462899" cy="1476005"/>
          </a:xfrm>
          <a:custGeom>
            <a:avLst/>
            <a:gdLst/>
            <a:ahLst/>
            <a:cxnLst/>
            <a:rect r="r" b="b" t="t" l="l"/>
            <a:pathLst>
              <a:path h="1476005" w="2462899">
                <a:moveTo>
                  <a:pt x="0" y="0"/>
                </a:moveTo>
                <a:lnTo>
                  <a:pt x="2462899" y="0"/>
                </a:lnTo>
                <a:lnTo>
                  <a:pt x="2462899" y="1476005"/>
                </a:lnTo>
                <a:lnTo>
                  <a:pt x="0" y="147600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7510871" y="1702670"/>
            <a:ext cx="7390461" cy="4926974"/>
            <a:chOff x="0" y="0"/>
            <a:chExt cx="36063936" cy="24042624"/>
          </a:xfrm>
        </p:grpSpPr>
        <p:sp>
          <p:nvSpPr>
            <p:cNvPr name="Freeform 14" id="14"/>
            <p:cNvSpPr/>
            <p:nvPr/>
          </p:nvSpPr>
          <p:spPr>
            <a:xfrm flipH="false" flipV="true" rot="0">
              <a:off x="0" y="0"/>
              <a:ext cx="36063935" cy="24042624"/>
            </a:xfrm>
            <a:custGeom>
              <a:avLst/>
              <a:gdLst/>
              <a:ahLst/>
              <a:cxnLst/>
              <a:rect r="r" b="b" t="t" l="l"/>
              <a:pathLst>
                <a:path h="24042624" w="36063935">
                  <a:moveTo>
                    <a:pt x="0" y="24042624"/>
                  </a:moveTo>
                  <a:lnTo>
                    <a:pt x="36063935" y="24042624"/>
                  </a:lnTo>
                  <a:lnTo>
                    <a:pt x="36063935" y="0"/>
                  </a:lnTo>
                  <a:lnTo>
                    <a:pt x="0" y="0"/>
                  </a:lnTo>
                  <a:lnTo>
                    <a:pt x="0" y="24042624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445341" y="1477738"/>
            <a:ext cx="3047641" cy="3667123"/>
            <a:chOff x="0" y="0"/>
            <a:chExt cx="14871865" cy="17894808"/>
          </a:xfrm>
        </p:grpSpPr>
        <p:sp>
          <p:nvSpPr>
            <p:cNvPr name="Freeform 16" id="16"/>
            <p:cNvSpPr/>
            <p:nvPr/>
          </p:nvSpPr>
          <p:spPr>
            <a:xfrm flipH="false" flipV="true" rot="0">
              <a:off x="0" y="0"/>
              <a:ext cx="14871827" cy="17894808"/>
            </a:xfrm>
            <a:custGeom>
              <a:avLst/>
              <a:gdLst/>
              <a:ahLst/>
              <a:cxnLst/>
              <a:rect r="r" b="b" t="t" l="l"/>
              <a:pathLst>
                <a:path h="17894808" w="14871827">
                  <a:moveTo>
                    <a:pt x="0" y="17894808"/>
                  </a:moveTo>
                  <a:lnTo>
                    <a:pt x="14871827" y="17894808"/>
                  </a:lnTo>
                  <a:lnTo>
                    <a:pt x="14871827" y="0"/>
                  </a:lnTo>
                  <a:lnTo>
                    <a:pt x="0" y="0"/>
                  </a:lnTo>
                  <a:lnTo>
                    <a:pt x="0" y="17894808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6367909" y="3827006"/>
            <a:ext cx="1360243" cy="137244"/>
          </a:xfrm>
          <a:custGeom>
            <a:avLst/>
            <a:gdLst/>
            <a:ahLst/>
            <a:cxnLst/>
            <a:rect r="r" b="b" t="t" l="l"/>
            <a:pathLst>
              <a:path h="137244" w="1360243">
                <a:moveTo>
                  <a:pt x="0" y="0"/>
                </a:moveTo>
                <a:lnTo>
                  <a:pt x="1360243" y="0"/>
                </a:lnTo>
                <a:lnTo>
                  <a:pt x="1360243" y="137244"/>
                </a:lnTo>
                <a:lnTo>
                  <a:pt x="0" y="13724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009664" y="7879655"/>
            <a:ext cx="2421258" cy="1014622"/>
          </a:xfrm>
          <a:custGeom>
            <a:avLst/>
            <a:gdLst/>
            <a:ahLst/>
            <a:cxnLst/>
            <a:rect r="r" b="b" t="t" l="l"/>
            <a:pathLst>
              <a:path h="1014622" w="2421258">
                <a:moveTo>
                  <a:pt x="0" y="0"/>
                </a:moveTo>
                <a:lnTo>
                  <a:pt x="2421257" y="0"/>
                </a:lnTo>
                <a:lnTo>
                  <a:pt x="2421257" y="1014622"/>
                </a:lnTo>
                <a:lnTo>
                  <a:pt x="0" y="101462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894537" y="5813286"/>
            <a:ext cx="224690" cy="1723769"/>
          </a:xfrm>
          <a:custGeom>
            <a:avLst/>
            <a:gdLst/>
            <a:ahLst/>
            <a:cxnLst/>
            <a:rect r="r" b="b" t="t" l="l"/>
            <a:pathLst>
              <a:path h="1723769" w="224690">
                <a:moveTo>
                  <a:pt x="0" y="0"/>
                </a:moveTo>
                <a:lnTo>
                  <a:pt x="224690" y="0"/>
                </a:lnTo>
                <a:lnTo>
                  <a:pt x="224690" y="1723769"/>
                </a:lnTo>
                <a:lnTo>
                  <a:pt x="0" y="172376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3101188" y="8119562"/>
            <a:ext cx="718309" cy="553514"/>
            <a:chOff x="0" y="0"/>
            <a:chExt cx="3505200" cy="2701036"/>
          </a:xfrm>
        </p:grpSpPr>
        <p:sp>
          <p:nvSpPr>
            <p:cNvPr name="Freeform 21" id="21"/>
            <p:cNvSpPr/>
            <p:nvPr/>
          </p:nvSpPr>
          <p:spPr>
            <a:xfrm flipH="false" flipV="true" rot="0">
              <a:off x="0" y="0"/>
              <a:ext cx="3505200" cy="2701036"/>
            </a:xfrm>
            <a:custGeom>
              <a:avLst/>
              <a:gdLst/>
              <a:ahLst/>
              <a:cxnLst/>
              <a:rect r="r" b="b" t="t" l="l"/>
              <a:pathLst>
                <a:path h="2701036" w="3505200">
                  <a:moveTo>
                    <a:pt x="0" y="2701036"/>
                  </a:moveTo>
                  <a:lnTo>
                    <a:pt x="3505200" y="2701036"/>
                  </a:lnTo>
                  <a:lnTo>
                    <a:pt x="3505200" y="0"/>
                  </a:lnTo>
                  <a:lnTo>
                    <a:pt x="0" y="0"/>
                  </a:lnTo>
                  <a:lnTo>
                    <a:pt x="0" y="2701036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631498" y="8119562"/>
            <a:ext cx="687078" cy="558857"/>
            <a:chOff x="0" y="0"/>
            <a:chExt cx="3352800" cy="2727109"/>
          </a:xfrm>
        </p:grpSpPr>
        <p:sp>
          <p:nvSpPr>
            <p:cNvPr name="Freeform 23" id="23"/>
            <p:cNvSpPr/>
            <p:nvPr/>
          </p:nvSpPr>
          <p:spPr>
            <a:xfrm flipH="false" flipV="true" rot="0">
              <a:off x="0" y="0"/>
              <a:ext cx="3352800" cy="2727071"/>
            </a:xfrm>
            <a:custGeom>
              <a:avLst/>
              <a:gdLst/>
              <a:ahLst/>
              <a:cxnLst/>
              <a:rect r="r" b="b" t="t" l="l"/>
              <a:pathLst>
                <a:path h="2727071" w="3352800">
                  <a:moveTo>
                    <a:pt x="0" y="2727071"/>
                  </a:moveTo>
                  <a:lnTo>
                    <a:pt x="3352800" y="2727071"/>
                  </a:lnTo>
                  <a:lnTo>
                    <a:pt x="3352800" y="0"/>
                  </a:lnTo>
                  <a:lnTo>
                    <a:pt x="0" y="0"/>
                  </a:lnTo>
                  <a:lnTo>
                    <a:pt x="0" y="2727071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-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823793" y="6331632"/>
            <a:ext cx="4122468" cy="1023051"/>
            <a:chOff x="0" y="0"/>
            <a:chExt cx="20116800" cy="4992281"/>
          </a:xfrm>
        </p:grpSpPr>
        <p:sp>
          <p:nvSpPr>
            <p:cNvPr name="Freeform 25" id="25"/>
            <p:cNvSpPr/>
            <p:nvPr/>
          </p:nvSpPr>
          <p:spPr>
            <a:xfrm flipH="false" flipV="true" rot="0">
              <a:off x="0" y="0"/>
              <a:ext cx="20116800" cy="4992243"/>
            </a:xfrm>
            <a:custGeom>
              <a:avLst/>
              <a:gdLst/>
              <a:ahLst/>
              <a:cxnLst/>
              <a:rect r="r" b="b" t="t" l="l"/>
              <a:pathLst>
                <a:path h="4992243" w="20116800">
                  <a:moveTo>
                    <a:pt x="0" y="4992243"/>
                  </a:moveTo>
                  <a:lnTo>
                    <a:pt x="20116800" y="4992243"/>
                  </a:lnTo>
                  <a:lnTo>
                    <a:pt x="20116800" y="0"/>
                  </a:lnTo>
                  <a:lnTo>
                    <a:pt x="0" y="0"/>
                  </a:lnTo>
                  <a:lnTo>
                    <a:pt x="0" y="4992243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0615301" y="7012549"/>
            <a:ext cx="3379003" cy="137244"/>
          </a:xfrm>
          <a:custGeom>
            <a:avLst/>
            <a:gdLst/>
            <a:ahLst/>
            <a:cxnLst/>
            <a:rect r="r" b="b" t="t" l="l"/>
            <a:pathLst>
              <a:path h="137244" w="3379003">
                <a:moveTo>
                  <a:pt x="0" y="0"/>
                </a:moveTo>
                <a:lnTo>
                  <a:pt x="3379003" y="0"/>
                </a:lnTo>
                <a:lnTo>
                  <a:pt x="3379003" y="137244"/>
                </a:lnTo>
                <a:lnTo>
                  <a:pt x="0" y="137244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3913190" y="8069661"/>
            <a:ext cx="614206" cy="658658"/>
            <a:chOff x="0" y="0"/>
            <a:chExt cx="2997200" cy="3214116"/>
          </a:xfrm>
        </p:grpSpPr>
        <p:sp>
          <p:nvSpPr>
            <p:cNvPr name="Freeform 28" id="28"/>
            <p:cNvSpPr/>
            <p:nvPr/>
          </p:nvSpPr>
          <p:spPr>
            <a:xfrm flipH="false" flipV="true" rot="0">
              <a:off x="0" y="0"/>
              <a:ext cx="2997200" cy="3214116"/>
            </a:xfrm>
            <a:custGeom>
              <a:avLst/>
              <a:gdLst/>
              <a:ahLst/>
              <a:cxnLst/>
              <a:rect r="r" b="b" t="t" l="l"/>
              <a:pathLst>
                <a:path h="3214116" w="2997200">
                  <a:moveTo>
                    <a:pt x="0" y="3214116"/>
                  </a:moveTo>
                  <a:lnTo>
                    <a:pt x="2997200" y="3214116"/>
                  </a:lnTo>
                  <a:lnTo>
                    <a:pt x="2997200" y="0"/>
                  </a:lnTo>
                  <a:lnTo>
                    <a:pt x="0" y="0"/>
                  </a:lnTo>
                  <a:lnTo>
                    <a:pt x="0" y="3214116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543330" y="7331018"/>
            <a:ext cx="6683395" cy="1781302"/>
            <a:chOff x="0" y="0"/>
            <a:chExt cx="32613600" cy="8692388"/>
          </a:xfrm>
        </p:grpSpPr>
        <p:sp>
          <p:nvSpPr>
            <p:cNvPr name="Freeform 30" id="30"/>
            <p:cNvSpPr/>
            <p:nvPr/>
          </p:nvSpPr>
          <p:spPr>
            <a:xfrm flipH="false" flipV="true" rot="0">
              <a:off x="0" y="0"/>
              <a:ext cx="32613600" cy="8692388"/>
            </a:xfrm>
            <a:custGeom>
              <a:avLst/>
              <a:gdLst/>
              <a:ahLst/>
              <a:cxnLst/>
              <a:rect r="r" b="b" t="t" l="l"/>
              <a:pathLst>
                <a:path h="8692388" w="32613600">
                  <a:moveTo>
                    <a:pt x="0" y="8692388"/>
                  </a:moveTo>
                  <a:lnTo>
                    <a:pt x="32613600" y="8692388"/>
                  </a:lnTo>
                  <a:lnTo>
                    <a:pt x="32613600" y="0"/>
                  </a:lnTo>
                  <a:lnTo>
                    <a:pt x="0" y="0"/>
                  </a:lnTo>
                  <a:lnTo>
                    <a:pt x="0" y="8692388"/>
                  </a:lnTo>
                  <a:close/>
                </a:path>
              </a:pathLst>
            </a:custGeom>
            <a:blipFill>
              <a:blip r:embed="rId29"/>
              <a:stretch>
                <a:fillRect l="0" t="0" r="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7788206" y="9456249"/>
            <a:ext cx="25968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14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112732" y="9807943"/>
            <a:ext cx="2062537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Methodology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49139" y="1411063"/>
            <a:ext cx="3126190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Methodol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ogy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037095" y="7480008"/>
            <a:ext cx="134365" cy="54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"/>
              </a:lnSpc>
            </a:pPr>
            <a:r>
              <a:rPr lang="en-US" sz="245">
                <a:solidFill>
                  <a:srgbClr val="5B9BD5"/>
                </a:solidFill>
                <a:latin typeface="Calibri (MS)"/>
                <a:ea typeface="Calibri (MS)"/>
                <a:cs typeface="Calibri (MS)"/>
                <a:sym typeface="Calibri (MS)"/>
              </a:rPr>
              <a:t>Real Time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180039" y="6245816"/>
            <a:ext cx="1143196" cy="18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8"/>
              </a:lnSpc>
            </a:pPr>
            <a:r>
              <a:rPr lang="en-US" sz="9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Dual-Functional Data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265577" y="6395899"/>
            <a:ext cx="941776" cy="181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7"/>
              </a:lnSpc>
            </a:pPr>
            <a:r>
              <a:rPr lang="en-US" sz="9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Transmission</a:t>
            </a:r>
            <a:r>
              <a:rPr lang="en-US" sz="9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Line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274345" y="7594364"/>
            <a:ext cx="1529009" cy="24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7"/>
              </a:lnSpc>
            </a:pPr>
            <a:r>
              <a:rPr lang="en-US" sz="1312">
                <a:solidFill>
                  <a:srgbClr val="5B9BD5"/>
                </a:solidFill>
                <a:latin typeface="Calibri (MS)"/>
                <a:ea typeface="Calibri (MS)"/>
                <a:cs typeface="Calibri (MS)"/>
                <a:sym typeface="Calibri (MS)"/>
              </a:rPr>
              <a:t>Real Time Monitoring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498248" y="6908240"/>
            <a:ext cx="1170156" cy="148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7"/>
              </a:lnSpc>
            </a:pPr>
            <a:r>
              <a:rPr lang="en-US" sz="8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Mobile to engine interface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865867" y="9255195"/>
            <a:ext cx="861880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Fig 3 :  Proposed architecture of the federated digital twin framework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8969" y="2980071"/>
            <a:ext cx="9436552" cy="3772801"/>
            <a:chOff x="0" y="0"/>
            <a:chExt cx="2841464" cy="11360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1465" cy="1136038"/>
            </a:xfrm>
            <a:custGeom>
              <a:avLst/>
              <a:gdLst/>
              <a:ahLst/>
              <a:cxnLst/>
              <a:rect r="r" b="b" t="t" l="l"/>
              <a:pathLst>
                <a:path h="1136038" w="2841465">
                  <a:moveTo>
                    <a:pt x="35278" y="0"/>
                  </a:moveTo>
                  <a:lnTo>
                    <a:pt x="2806187" y="0"/>
                  </a:lnTo>
                  <a:cubicBezTo>
                    <a:pt x="2825670" y="0"/>
                    <a:pt x="2841465" y="15794"/>
                    <a:pt x="2841465" y="35278"/>
                  </a:cubicBezTo>
                  <a:lnTo>
                    <a:pt x="2841465" y="1100760"/>
                  </a:lnTo>
                  <a:cubicBezTo>
                    <a:pt x="2841465" y="1110116"/>
                    <a:pt x="2837748" y="1119089"/>
                    <a:pt x="2831132" y="1125705"/>
                  </a:cubicBezTo>
                  <a:cubicBezTo>
                    <a:pt x="2824516" y="1132321"/>
                    <a:pt x="2815543" y="1136038"/>
                    <a:pt x="2806187" y="1136038"/>
                  </a:cubicBezTo>
                  <a:lnTo>
                    <a:pt x="35278" y="1136038"/>
                  </a:lnTo>
                  <a:cubicBezTo>
                    <a:pt x="25922" y="1136038"/>
                    <a:pt x="16949" y="1132321"/>
                    <a:pt x="10333" y="1125705"/>
                  </a:cubicBezTo>
                  <a:cubicBezTo>
                    <a:pt x="3717" y="1119089"/>
                    <a:pt x="0" y="1110116"/>
                    <a:pt x="0" y="1100760"/>
                  </a:cubicBezTo>
                  <a:lnTo>
                    <a:pt x="0" y="35278"/>
                  </a:lnTo>
                  <a:cubicBezTo>
                    <a:pt x="0" y="25922"/>
                    <a:pt x="3717" y="16949"/>
                    <a:pt x="10333" y="10333"/>
                  </a:cubicBezTo>
                  <a:cubicBezTo>
                    <a:pt x="16949" y="3717"/>
                    <a:pt x="25922" y="0"/>
                    <a:pt x="35278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EBEBEB"/>
              </a:solidFill>
              <a:prstDash val="dash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1464" cy="1174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0789436" y="2426921"/>
            <a:ext cx="5916520" cy="6353310"/>
          </a:xfrm>
          <a:custGeom>
            <a:avLst/>
            <a:gdLst/>
            <a:ahLst/>
            <a:cxnLst/>
            <a:rect r="r" b="b" t="t" l="l"/>
            <a:pathLst>
              <a:path h="6353310" w="5916520">
                <a:moveTo>
                  <a:pt x="0" y="0"/>
                </a:moveTo>
                <a:lnTo>
                  <a:pt x="5916520" y="0"/>
                </a:lnTo>
                <a:lnTo>
                  <a:pt x="5916520" y="6353310"/>
                </a:lnTo>
                <a:lnTo>
                  <a:pt x="0" y="635331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797135" y="9456249"/>
            <a:ext cx="24182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15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12732" y="9807943"/>
            <a:ext cx="2062537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Methodology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49139" y="1411063"/>
            <a:ext cx="2285110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App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roach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9237" y="3166396"/>
            <a:ext cx="8896300" cy="306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ocal data are processed at edge devices to build patient digital twins.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Federated learning aggregates model parameters without sharing raw data.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global model updates personalized digital twins continuously.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93892" y="8742131"/>
            <a:ext cx="383708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Fig 4 :   Data Flow Diagram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768960" y="3201548"/>
            <a:ext cx="6987731" cy="3789900"/>
            <a:chOff x="0" y="0"/>
            <a:chExt cx="2023223" cy="10973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23223" cy="1097325"/>
            </a:xfrm>
            <a:custGeom>
              <a:avLst/>
              <a:gdLst/>
              <a:ahLst/>
              <a:cxnLst/>
              <a:rect r="r" b="b" t="t" l="l"/>
              <a:pathLst>
                <a:path h="1097325" w="2023223">
                  <a:moveTo>
                    <a:pt x="47641" y="0"/>
                  </a:moveTo>
                  <a:lnTo>
                    <a:pt x="1975582" y="0"/>
                  </a:lnTo>
                  <a:cubicBezTo>
                    <a:pt x="1988217" y="0"/>
                    <a:pt x="2000335" y="5019"/>
                    <a:pt x="2009269" y="13954"/>
                  </a:cubicBezTo>
                  <a:cubicBezTo>
                    <a:pt x="2018204" y="22888"/>
                    <a:pt x="2023223" y="35006"/>
                    <a:pt x="2023223" y="47641"/>
                  </a:cubicBezTo>
                  <a:lnTo>
                    <a:pt x="2023223" y="1049684"/>
                  </a:lnTo>
                  <a:cubicBezTo>
                    <a:pt x="2023223" y="1062319"/>
                    <a:pt x="2018204" y="1074437"/>
                    <a:pt x="2009269" y="1083371"/>
                  </a:cubicBezTo>
                  <a:cubicBezTo>
                    <a:pt x="2000335" y="1092306"/>
                    <a:pt x="1988217" y="1097325"/>
                    <a:pt x="1975582" y="1097325"/>
                  </a:cubicBezTo>
                  <a:lnTo>
                    <a:pt x="47641" y="1097325"/>
                  </a:lnTo>
                  <a:cubicBezTo>
                    <a:pt x="35006" y="1097325"/>
                    <a:pt x="22888" y="1092306"/>
                    <a:pt x="13954" y="1083371"/>
                  </a:cubicBezTo>
                  <a:cubicBezTo>
                    <a:pt x="5019" y="1074437"/>
                    <a:pt x="0" y="1062319"/>
                    <a:pt x="0" y="1049684"/>
                  </a:cubicBezTo>
                  <a:lnTo>
                    <a:pt x="0" y="47641"/>
                  </a:lnTo>
                  <a:cubicBezTo>
                    <a:pt x="0" y="35006"/>
                    <a:pt x="5019" y="22888"/>
                    <a:pt x="13954" y="13954"/>
                  </a:cubicBezTo>
                  <a:cubicBezTo>
                    <a:pt x="22888" y="5019"/>
                    <a:pt x="35006" y="0"/>
                    <a:pt x="47641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E1E1E1"/>
              </a:solidFill>
              <a:prstDash val="dash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23223" cy="113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11" id="11"/>
          <p:cNvGraphicFramePr/>
          <p:nvPr/>
        </p:nvGraphicFramePr>
        <p:xfrm>
          <a:off x="9416525" y="2857804"/>
          <a:ext cx="3771900" cy="3771900"/>
        </p:xfrm>
        <a:graphic>
          <a:graphicData uri="http://schemas.openxmlformats.org/presentationml/2006/ole">
            <p:oleObj imgW="4521200" imgH="4521200" r:id="rId12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17792902" y="9456249"/>
            <a:ext cx="25029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16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12732" y="9807943"/>
            <a:ext cx="2062537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Methodology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49139" y="1411063"/>
            <a:ext cx="3842513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Resea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rch Design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88782" y="3458400"/>
            <a:ext cx="6197553" cy="319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2"/>
              </a:lnSpc>
            </a:pPr>
            <a:r>
              <a:rPr lang="en-US" sz="30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This</a:t>
            </a:r>
            <a:r>
              <a:rPr lang="en-US" sz="30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study follows a quantitative and experimental research design.</a:t>
            </a:r>
          </a:p>
          <a:p>
            <a:pPr algn="just">
              <a:lnSpc>
                <a:spcPts val="4222"/>
              </a:lnSpc>
            </a:pPr>
          </a:p>
          <a:p>
            <a:pPr algn="just">
              <a:lnSpc>
                <a:spcPts val="4222"/>
              </a:lnSpc>
            </a:pPr>
            <a:r>
              <a:rPr lang="en-US" sz="301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design is suitable for evaluating prediction accuracy and system performance.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82255" y="7567042"/>
            <a:ext cx="463761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Table 3.1: Summary of Research Design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7797466" y="9456249"/>
            <a:ext cx="24116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17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12732" y="9807943"/>
            <a:ext cx="2062537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9139" y="1411063"/>
            <a:ext cx="5695940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Data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Collection Methods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051738" y="3010968"/>
            <a:ext cx="6886001" cy="5626346"/>
            <a:chOff x="0" y="0"/>
            <a:chExt cx="2073461" cy="16941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3461" cy="1694163"/>
            </a:xfrm>
            <a:custGeom>
              <a:avLst/>
              <a:gdLst/>
              <a:ahLst/>
              <a:cxnLst/>
              <a:rect r="r" b="b" t="t" l="l"/>
              <a:pathLst>
                <a:path h="1694163" w="2073461">
                  <a:moveTo>
                    <a:pt x="48345" y="0"/>
                  </a:moveTo>
                  <a:lnTo>
                    <a:pt x="2025117" y="0"/>
                  </a:lnTo>
                  <a:cubicBezTo>
                    <a:pt x="2037938" y="0"/>
                    <a:pt x="2050235" y="5093"/>
                    <a:pt x="2059302" y="14160"/>
                  </a:cubicBezTo>
                  <a:cubicBezTo>
                    <a:pt x="2068368" y="23226"/>
                    <a:pt x="2073461" y="35523"/>
                    <a:pt x="2073461" y="48345"/>
                  </a:cubicBezTo>
                  <a:lnTo>
                    <a:pt x="2073461" y="1645819"/>
                  </a:lnTo>
                  <a:cubicBezTo>
                    <a:pt x="2073461" y="1658640"/>
                    <a:pt x="2068368" y="1670937"/>
                    <a:pt x="2059302" y="1680004"/>
                  </a:cubicBezTo>
                  <a:cubicBezTo>
                    <a:pt x="2050235" y="1689070"/>
                    <a:pt x="2037938" y="1694163"/>
                    <a:pt x="2025117" y="1694163"/>
                  </a:cubicBezTo>
                  <a:lnTo>
                    <a:pt x="48345" y="1694163"/>
                  </a:lnTo>
                  <a:cubicBezTo>
                    <a:pt x="35523" y="1694163"/>
                    <a:pt x="23226" y="1689070"/>
                    <a:pt x="14160" y="1680004"/>
                  </a:cubicBezTo>
                  <a:cubicBezTo>
                    <a:pt x="5093" y="1670937"/>
                    <a:pt x="0" y="1658640"/>
                    <a:pt x="0" y="1645819"/>
                  </a:cubicBezTo>
                  <a:lnTo>
                    <a:pt x="0" y="48345"/>
                  </a:lnTo>
                  <a:cubicBezTo>
                    <a:pt x="0" y="35523"/>
                    <a:pt x="5093" y="23226"/>
                    <a:pt x="14160" y="14160"/>
                  </a:cubicBezTo>
                  <a:cubicBezTo>
                    <a:pt x="23226" y="5093"/>
                    <a:pt x="35523" y="0"/>
                    <a:pt x="48345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D9D9D9"/>
              </a:solidFill>
              <a:prstDash val="dash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073461" cy="1751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557280" y="3812858"/>
            <a:ext cx="6136910" cy="461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Datase</a:t>
            </a:r>
            <a:r>
              <a:rPr lang="en-US" b="true" sz="29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 Source: 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Kaggle – Human Vital Signs Dataset</a:t>
            </a:r>
          </a:p>
          <a:p>
            <a:pPr algn="l">
              <a:lnSpc>
                <a:spcPts val="4060"/>
              </a:lnSpc>
            </a:pPr>
            <a:r>
              <a:rPr lang="en-US" b="true" sz="29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Data Type: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Heart rate, body temperature, oxygen saturation, and related vital indicators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US" b="true" sz="29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Collection Method: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Primary dataset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US" b="true" sz="29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Sample Size: 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Multiple patient records representing realistic healthcare scenarios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82507" y="3124551"/>
            <a:ext cx="267176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Data Collection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44000" y="3010968"/>
            <a:ext cx="8459101" cy="4526365"/>
            <a:chOff x="0" y="0"/>
            <a:chExt cx="2547142" cy="13629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47142" cy="1362945"/>
            </a:xfrm>
            <a:custGeom>
              <a:avLst/>
              <a:gdLst/>
              <a:ahLst/>
              <a:cxnLst/>
              <a:rect r="r" b="b" t="t" l="l"/>
              <a:pathLst>
                <a:path h="1362945" w="2547142">
                  <a:moveTo>
                    <a:pt x="39354" y="0"/>
                  </a:moveTo>
                  <a:lnTo>
                    <a:pt x="2507787" y="0"/>
                  </a:lnTo>
                  <a:cubicBezTo>
                    <a:pt x="2529522" y="0"/>
                    <a:pt x="2547142" y="17620"/>
                    <a:pt x="2547142" y="39354"/>
                  </a:cubicBezTo>
                  <a:lnTo>
                    <a:pt x="2547142" y="1323591"/>
                  </a:lnTo>
                  <a:cubicBezTo>
                    <a:pt x="2547142" y="1345326"/>
                    <a:pt x="2529522" y="1362945"/>
                    <a:pt x="2507787" y="1362945"/>
                  </a:cubicBezTo>
                  <a:lnTo>
                    <a:pt x="39354" y="1362945"/>
                  </a:lnTo>
                  <a:cubicBezTo>
                    <a:pt x="17620" y="1362945"/>
                    <a:pt x="0" y="1345326"/>
                    <a:pt x="0" y="1323591"/>
                  </a:cubicBezTo>
                  <a:lnTo>
                    <a:pt x="0" y="39354"/>
                  </a:lnTo>
                  <a:cubicBezTo>
                    <a:pt x="0" y="17620"/>
                    <a:pt x="17620" y="0"/>
                    <a:pt x="39354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D9D9D9"/>
              </a:solidFill>
              <a:prstDash val="dash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547142" cy="1420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318183" y="3812858"/>
            <a:ext cx="7941117" cy="306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Human Vital Signs Dataset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contains real-world physiological health indicators collected from multiple individuals.It supports health risk classification and prediction tasks. The dataset is suitable for evaluating personalized healthcare monitoring models.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86297" y="3205831"/>
            <a:ext cx="3469878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Dataset Description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7" id="7"/>
          <p:cNvGraphicFramePr/>
          <p:nvPr/>
        </p:nvGraphicFramePr>
        <p:xfrm>
          <a:off x="1768960" y="2276014"/>
          <a:ext cx="5657850" cy="5029200"/>
        </p:xfrm>
        <a:graphic>
          <a:graphicData uri="http://schemas.openxmlformats.org/presentationml/2006/ole">
            <p:oleObj imgW="6781800" imgH="61595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7793299" y="9456249"/>
            <a:ext cx="24950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18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12732" y="9801529"/>
            <a:ext cx="2062537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9139" y="1411063"/>
            <a:ext cx="5263772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Data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Analysis Methods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81056" y="9391189"/>
            <a:ext cx="392588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Table 3.2: Data Analysis Methods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4787724" y="1477738"/>
            <a:ext cx="9111661" cy="7780562"/>
          </a:xfrm>
          <a:custGeom>
            <a:avLst/>
            <a:gdLst/>
            <a:ahLst/>
            <a:cxnLst/>
            <a:rect r="r" b="b" t="t" l="l"/>
            <a:pathLst>
              <a:path h="7780562" w="9111661">
                <a:moveTo>
                  <a:pt x="0" y="0"/>
                </a:moveTo>
                <a:lnTo>
                  <a:pt x="9111661" y="0"/>
                </a:lnTo>
                <a:lnTo>
                  <a:pt x="9111661" y="7780562"/>
                </a:lnTo>
                <a:lnTo>
                  <a:pt x="0" y="77805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0351" r="-2272" b="-612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792902" y="9456249"/>
            <a:ext cx="25029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19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12732" y="9801529"/>
            <a:ext cx="2062537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9139" y="1411063"/>
            <a:ext cx="2776870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Gantt Chart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54684" y="9360052"/>
            <a:ext cx="383708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Fig 4 :   Gantt Chart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7758241" y="9456249"/>
            <a:ext cx="31961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12732" y="9801529"/>
            <a:ext cx="2062537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Methodology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9139" y="1411063"/>
            <a:ext cx="3682872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Implementat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170016" y="1824243"/>
            <a:ext cx="10982596" cy="7434057"/>
            <a:chOff x="0" y="0"/>
            <a:chExt cx="3306998" cy="22384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06998" cy="2238488"/>
            </a:xfrm>
            <a:custGeom>
              <a:avLst/>
              <a:gdLst/>
              <a:ahLst/>
              <a:cxnLst/>
              <a:rect r="r" b="b" t="t" l="l"/>
              <a:pathLst>
                <a:path h="2238488" w="3306998">
                  <a:moveTo>
                    <a:pt x="30312" y="0"/>
                  </a:moveTo>
                  <a:lnTo>
                    <a:pt x="3276686" y="0"/>
                  </a:lnTo>
                  <a:cubicBezTo>
                    <a:pt x="3284725" y="0"/>
                    <a:pt x="3292435" y="3194"/>
                    <a:pt x="3298120" y="8878"/>
                  </a:cubicBezTo>
                  <a:cubicBezTo>
                    <a:pt x="3303804" y="14563"/>
                    <a:pt x="3306998" y="22273"/>
                    <a:pt x="3306998" y="30312"/>
                  </a:cubicBezTo>
                  <a:lnTo>
                    <a:pt x="3306998" y="2208176"/>
                  </a:lnTo>
                  <a:cubicBezTo>
                    <a:pt x="3306998" y="2224917"/>
                    <a:pt x="3293427" y="2238488"/>
                    <a:pt x="3276686" y="2238488"/>
                  </a:cubicBezTo>
                  <a:lnTo>
                    <a:pt x="30312" y="2238488"/>
                  </a:lnTo>
                  <a:cubicBezTo>
                    <a:pt x="22273" y="2238488"/>
                    <a:pt x="14563" y="2235294"/>
                    <a:pt x="8878" y="2229610"/>
                  </a:cubicBezTo>
                  <a:cubicBezTo>
                    <a:pt x="3194" y="2223925"/>
                    <a:pt x="0" y="2216215"/>
                    <a:pt x="0" y="2208176"/>
                  </a:cubicBezTo>
                  <a:lnTo>
                    <a:pt x="0" y="30312"/>
                  </a:lnTo>
                  <a:cubicBezTo>
                    <a:pt x="0" y="22273"/>
                    <a:pt x="3194" y="14563"/>
                    <a:pt x="8878" y="8878"/>
                  </a:cubicBezTo>
                  <a:cubicBezTo>
                    <a:pt x="14563" y="3194"/>
                    <a:pt x="22273" y="0"/>
                    <a:pt x="30312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D9D9D9"/>
              </a:solidFill>
              <a:prstDash val="dash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306998" cy="2295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477933" y="1899139"/>
            <a:ext cx="7487047" cy="6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b="true" sz="2324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Patient Data</a:t>
            </a:r>
          </a:p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b="true" sz="2324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    ↓</a:t>
            </a:r>
          </a:p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b="true" sz="2324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Preprocessing &amp; Scaling</a:t>
            </a:r>
          </a:p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b="true" sz="2324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    ↓</a:t>
            </a:r>
          </a:p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b="true" sz="2324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Split into K Clients</a:t>
            </a:r>
          </a:p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b="true" sz="2324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    ↓</a:t>
            </a:r>
          </a:p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b="true" sz="2324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┌──────── Client 1 (MLP) ────────┐</a:t>
            </a:r>
          </a:p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b="true" sz="2324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│                                 │</a:t>
            </a:r>
          </a:p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b="true" sz="2324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├──────── Client 2 (MLP) ────────┤ </a:t>
            </a:r>
          </a:p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b="true" sz="2324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│                                 │</a:t>
            </a:r>
          </a:p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b="true" sz="2324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└──────── Client K (MLP) ────────┘</a:t>
            </a:r>
          </a:p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b="true" sz="2324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    ↓</a:t>
            </a:r>
          </a:p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b="true" sz="2324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Global Digital Twin Prediction</a:t>
            </a:r>
          </a:p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b="true" sz="2324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    ↓</a:t>
            </a:r>
          </a:p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b="true" sz="2324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MXBoost Ensemble (MLP + XGBoost)</a:t>
            </a:r>
          </a:p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b="true" sz="2324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    ↓</a:t>
            </a:r>
          </a:p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b="true" sz="2324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Final Healthcare Decision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45449" y="5201547"/>
            <a:ext cx="296677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→ FedAvg → Global MLP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39108" y="9305436"/>
            <a:ext cx="492760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Fig 5 : Implementation work flow diagram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02594" y="1452153"/>
            <a:ext cx="9882812" cy="6953906"/>
          </a:xfrm>
          <a:custGeom>
            <a:avLst/>
            <a:gdLst/>
            <a:ahLst/>
            <a:cxnLst/>
            <a:rect r="r" b="b" t="t" l="l"/>
            <a:pathLst>
              <a:path h="6953906" w="9882812">
                <a:moveTo>
                  <a:pt x="0" y="0"/>
                </a:moveTo>
                <a:lnTo>
                  <a:pt x="9882812" y="0"/>
                </a:lnTo>
                <a:lnTo>
                  <a:pt x="9882812" y="6953906"/>
                </a:lnTo>
                <a:lnTo>
                  <a:pt x="0" y="69539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800906" y="9456249"/>
            <a:ext cx="23428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21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90122" y="4198259"/>
            <a:ext cx="8011451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473D34"/>
                </a:solidFill>
                <a:latin typeface="Archivo Black"/>
                <a:ea typeface="Archivo Black"/>
                <a:cs typeface="Archivo Black"/>
                <a:sym typeface="Archivo Black"/>
              </a:rPr>
              <a:t> Results And Discussio</a:t>
            </a:r>
            <a:r>
              <a:rPr lang="en-US" sz="4800">
                <a:solidFill>
                  <a:srgbClr val="473D34"/>
                </a:solidFill>
                <a:latin typeface="Archivo Black"/>
                <a:ea typeface="Archivo Black"/>
                <a:cs typeface="Archivo Black"/>
                <a:sym typeface="Archivo Black"/>
              </a:rPr>
              <a:t>n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8960" y="2456463"/>
            <a:ext cx="15294408" cy="4687953"/>
            <a:chOff x="0" y="0"/>
            <a:chExt cx="4605339" cy="1411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5339" cy="1411602"/>
            </a:xfrm>
            <a:custGeom>
              <a:avLst/>
              <a:gdLst/>
              <a:ahLst/>
              <a:cxnLst/>
              <a:rect r="r" b="b" t="t" l="l"/>
              <a:pathLst>
                <a:path h="1411602" w="4605339">
                  <a:moveTo>
                    <a:pt x="21766" y="0"/>
                  </a:moveTo>
                  <a:lnTo>
                    <a:pt x="4583573" y="0"/>
                  </a:lnTo>
                  <a:cubicBezTo>
                    <a:pt x="4595594" y="0"/>
                    <a:pt x="4605339" y="9745"/>
                    <a:pt x="4605339" y="21766"/>
                  </a:cubicBezTo>
                  <a:lnTo>
                    <a:pt x="4605339" y="1389835"/>
                  </a:lnTo>
                  <a:cubicBezTo>
                    <a:pt x="4605339" y="1401856"/>
                    <a:pt x="4595594" y="1411602"/>
                    <a:pt x="4583573" y="1411602"/>
                  </a:cubicBezTo>
                  <a:lnTo>
                    <a:pt x="21766" y="1411602"/>
                  </a:lnTo>
                  <a:cubicBezTo>
                    <a:pt x="9745" y="1411602"/>
                    <a:pt x="0" y="1401856"/>
                    <a:pt x="0" y="1389835"/>
                  </a:cubicBezTo>
                  <a:lnTo>
                    <a:pt x="0" y="21766"/>
                  </a:lnTo>
                  <a:cubicBezTo>
                    <a:pt x="0" y="9745"/>
                    <a:pt x="9745" y="0"/>
                    <a:pt x="21766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D9D9D9"/>
              </a:solidFill>
              <a:prstDash val="dash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605339" cy="1468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7772463" y="9456249"/>
            <a:ext cx="29117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22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12732" y="9807943"/>
            <a:ext cx="3324088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</a:t>
            </a: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esults And Discussion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9139" y="1411063"/>
            <a:ext cx="5035401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Resul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ts &amp; Discussion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49443" y="2740223"/>
            <a:ext cx="14349029" cy="358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This section pres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ents th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 experimental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results and disc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ussion of 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 proposed federated digital twin healthcare framework.</a:t>
            </a:r>
          </a:p>
          <a:p>
            <a:pPr algn="just">
              <a:lnSpc>
                <a:spcPts val="4060"/>
              </a:lnSpc>
            </a:pPr>
          </a:p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system was evaluated using real patient vital sign data under a simulated federated learning environment.</a:t>
            </a:r>
          </a:p>
          <a:p>
            <a:pPr algn="just">
              <a:lnSpc>
                <a:spcPts val="4060"/>
              </a:lnSpc>
            </a:pPr>
          </a:p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Key findings, comparisons, and performance analyses are discussed using visual results.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7767039" y="9456249"/>
            <a:ext cx="30202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23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12732" y="9807943"/>
            <a:ext cx="3324088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</a:t>
            </a: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esults And Discussion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3262" y="1411063"/>
            <a:ext cx="2970941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Key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Finding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47925" y="3172886"/>
            <a:ext cx="12792149" cy="358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✓ Exp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eriments w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ere conducted in 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simu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la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</a:t>
            </a: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ed federated learning environment.</a:t>
            </a:r>
          </a:p>
          <a:p>
            <a:pPr algn="just">
              <a:lnSpc>
                <a:spcPts val="4060"/>
              </a:lnSpc>
            </a:pPr>
          </a:p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✓ Multimodal vital sign data improved prediction accuracy.</a:t>
            </a:r>
          </a:p>
          <a:p>
            <a:pPr algn="just">
              <a:lnSpc>
                <a:spcPts val="4060"/>
              </a:lnSpc>
            </a:pPr>
          </a:p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✓ Hybrid AI model (MXBoost) achieved the best performance.</a:t>
            </a:r>
          </a:p>
          <a:p>
            <a:pPr algn="just">
              <a:lnSpc>
                <a:spcPts val="4060"/>
              </a:lnSpc>
            </a:pPr>
          </a:p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✓ The system successfully detects abnormal health conditions.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02962" y="3437679"/>
            <a:ext cx="5299857" cy="4283260"/>
          </a:xfrm>
          <a:custGeom>
            <a:avLst/>
            <a:gdLst/>
            <a:ahLst/>
            <a:cxnLst/>
            <a:rect r="r" b="b" t="t" l="l"/>
            <a:pathLst>
              <a:path h="4283260" w="5299857">
                <a:moveTo>
                  <a:pt x="0" y="0"/>
                </a:moveTo>
                <a:lnTo>
                  <a:pt x="5299857" y="0"/>
                </a:lnTo>
                <a:lnTo>
                  <a:pt x="5299857" y="4283260"/>
                </a:lnTo>
                <a:lnTo>
                  <a:pt x="0" y="428326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178527" y="2212274"/>
            <a:ext cx="5191464" cy="4195659"/>
          </a:xfrm>
          <a:custGeom>
            <a:avLst/>
            <a:gdLst/>
            <a:ahLst/>
            <a:cxnLst/>
            <a:rect r="r" b="b" t="t" l="l"/>
            <a:pathLst>
              <a:path h="4195659" w="5191464">
                <a:moveTo>
                  <a:pt x="0" y="0"/>
                </a:moveTo>
                <a:lnTo>
                  <a:pt x="5191464" y="0"/>
                </a:lnTo>
                <a:lnTo>
                  <a:pt x="5191464" y="4195659"/>
                </a:lnTo>
                <a:lnTo>
                  <a:pt x="0" y="419565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645699" y="3657296"/>
            <a:ext cx="4957402" cy="4006493"/>
          </a:xfrm>
          <a:custGeom>
            <a:avLst/>
            <a:gdLst/>
            <a:ahLst/>
            <a:cxnLst/>
            <a:rect r="r" b="b" t="t" l="l"/>
            <a:pathLst>
              <a:path h="4006493" w="4957402">
                <a:moveTo>
                  <a:pt x="0" y="0"/>
                </a:moveTo>
                <a:lnTo>
                  <a:pt x="4957402" y="0"/>
                </a:lnTo>
                <a:lnTo>
                  <a:pt x="4957402" y="4006493"/>
                </a:lnTo>
                <a:lnTo>
                  <a:pt x="0" y="40064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760689" y="9456249"/>
            <a:ext cx="31472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24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12732" y="9807943"/>
            <a:ext cx="3324088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</a:t>
            </a: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esults And Discussion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3262" y="1411063"/>
            <a:ext cx="4031636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Confusion Matrix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52120" y="7854289"/>
            <a:ext cx="45927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Fig 6: </a:t>
            </a: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MLP: [[20964, 59], [58 , 18923]]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92699" y="7854289"/>
            <a:ext cx="491040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Fig 7: XGBoost</a:t>
            </a: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: [20971 , 52], [ 56 , 18925]]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78527" y="6550554"/>
            <a:ext cx="521454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Fig 8: </a:t>
            </a: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MXBoost: [[ 21003 , 20 ], [93 ,18888]] 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8" id="8"/>
          <p:cNvGraphicFramePr/>
          <p:nvPr/>
        </p:nvGraphicFramePr>
        <p:xfrm>
          <a:off x="1763486" y="2476500"/>
          <a:ext cx="11315700" cy="2514600"/>
        </p:xfrm>
        <a:graphic>
          <a:graphicData uri="http://schemas.openxmlformats.org/presentationml/2006/ole">
            <p:oleObj imgW="13576300" imgH="4775200" r:id="rId12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7768693" y="9456249"/>
            <a:ext cx="29871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25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12732" y="9807943"/>
            <a:ext cx="3324088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</a:t>
            </a: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esults And Discussion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3262" y="1411063"/>
            <a:ext cx="4797695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Overall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performance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22304" y="5772150"/>
            <a:ext cx="14936996" cy="204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Table 4.1 </a:t>
            </a: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indicates that all models achieved accuracy above 99%. MXBoost shows the best overall performance with the highest accuracy, F1-score, and AUC. XGBoost and MLP also provide consistent and reliable prediction results.</a:t>
            </a:r>
          </a:p>
          <a:p>
            <a:pPr algn="just">
              <a:lnSpc>
                <a:spcPts val="40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8" id="8"/>
          <p:cNvGraphicFramePr/>
          <p:nvPr/>
        </p:nvGraphicFramePr>
        <p:xfrm>
          <a:off x="1637685" y="2860774"/>
          <a:ext cx="9429750" cy="1885950"/>
        </p:xfrm>
        <a:graphic>
          <a:graphicData uri="http://schemas.openxmlformats.org/presentationml/2006/ole">
            <p:oleObj imgW="11315700" imgH="3771900" r:id="rId12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7764459" y="9456249"/>
            <a:ext cx="30718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12732" y="9807943"/>
            <a:ext cx="3324088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</a:t>
            </a: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esults And Discussion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3262" y="1411063"/>
            <a:ext cx="10258314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Federated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learning and model aggregations.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75233" y="6011146"/>
            <a:ext cx="13563628" cy="152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Table 4.2</a:t>
            </a: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presents the average local models and the global final updates with the 10</a:t>
            </a:r>
          </a:p>
          <a:p>
            <a:pPr algn="just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round of epoch and update the global models through the local one. This ensure the federated learning and model aggregations.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8" id="8"/>
          <p:cNvGraphicFramePr/>
          <p:nvPr/>
        </p:nvGraphicFramePr>
        <p:xfrm>
          <a:off x="1449139" y="2155542"/>
          <a:ext cx="9429750" cy="4400550"/>
        </p:xfrm>
        <a:graphic>
          <a:graphicData uri="http://schemas.openxmlformats.org/presentationml/2006/ole">
            <p:oleObj imgW="11315700" imgH="6286500" r:id="rId12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7769685" y="9456249"/>
            <a:ext cx="29673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27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12732" y="9807943"/>
            <a:ext cx="3324088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</a:t>
            </a: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esults And Discussionl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9139" y="1411063"/>
            <a:ext cx="2970941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Compar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ison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09113" y="9305436"/>
            <a:ext cx="698764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Table 4.3: Performance Comparison with Existing Systems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4025267" y="2008166"/>
            <a:ext cx="12311612" cy="7231249"/>
          </a:xfrm>
          <a:custGeom>
            <a:avLst/>
            <a:gdLst/>
            <a:ahLst/>
            <a:cxnLst/>
            <a:rect r="r" b="b" t="t" l="l"/>
            <a:pathLst>
              <a:path h="7231249" w="12311612">
                <a:moveTo>
                  <a:pt x="0" y="0"/>
                </a:moveTo>
                <a:lnTo>
                  <a:pt x="12311612" y="0"/>
                </a:lnTo>
                <a:lnTo>
                  <a:pt x="12311612" y="7231249"/>
                </a:lnTo>
                <a:lnTo>
                  <a:pt x="0" y="72312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-560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765517" y="9456249"/>
            <a:ext cx="30506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28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12732" y="9807943"/>
            <a:ext cx="3324088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</a:t>
            </a: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esults And Discussion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9139" y="1421997"/>
            <a:ext cx="5152257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Performance Analys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85272" y="9287040"/>
            <a:ext cx="842777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Fig 9: </a:t>
            </a: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Horizontal bar chart of feature importance from Random</a:t>
            </a: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Forest 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8969" y="2343090"/>
            <a:ext cx="8069265" cy="3564353"/>
            <a:chOff x="0" y="0"/>
            <a:chExt cx="2429757" cy="10732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9757" cy="1073272"/>
            </a:xfrm>
            <a:custGeom>
              <a:avLst/>
              <a:gdLst/>
              <a:ahLst/>
              <a:cxnLst/>
              <a:rect r="r" b="b" t="t" l="l"/>
              <a:pathLst>
                <a:path h="1073272" w="2429757">
                  <a:moveTo>
                    <a:pt x="41256" y="0"/>
                  </a:moveTo>
                  <a:lnTo>
                    <a:pt x="2388501" y="0"/>
                  </a:lnTo>
                  <a:cubicBezTo>
                    <a:pt x="2399443" y="0"/>
                    <a:pt x="2409937" y="4347"/>
                    <a:pt x="2417674" y="12083"/>
                  </a:cubicBezTo>
                  <a:cubicBezTo>
                    <a:pt x="2425410" y="19820"/>
                    <a:pt x="2429757" y="30314"/>
                    <a:pt x="2429757" y="41256"/>
                  </a:cubicBezTo>
                  <a:lnTo>
                    <a:pt x="2429757" y="1032016"/>
                  </a:lnTo>
                  <a:cubicBezTo>
                    <a:pt x="2429757" y="1054801"/>
                    <a:pt x="2411286" y="1073272"/>
                    <a:pt x="2388501" y="1073272"/>
                  </a:cubicBezTo>
                  <a:lnTo>
                    <a:pt x="41256" y="1073272"/>
                  </a:lnTo>
                  <a:cubicBezTo>
                    <a:pt x="18471" y="1073272"/>
                    <a:pt x="0" y="1054801"/>
                    <a:pt x="0" y="1032016"/>
                  </a:cubicBezTo>
                  <a:lnTo>
                    <a:pt x="0" y="41256"/>
                  </a:lnTo>
                  <a:cubicBezTo>
                    <a:pt x="0" y="18471"/>
                    <a:pt x="18471" y="0"/>
                    <a:pt x="41256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D9D9D9"/>
              </a:solidFill>
              <a:prstDash val="dash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429757" cy="1130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9540260" y="2071226"/>
            <a:ext cx="8062841" cy="6382596"/>
          </a:xfrm>
          <a:custGeom>
            <a:avLst/>
            <a:gdLst/>
            <a:ahLst/>
            <a:cxnLst/>
            <a:rect r="r" b="b" t="t" l="l"/>
            <a:pathLst>
              <a:path h="6382596" w="8062841">
                <a:moveTo>
                  <a:pt x="0" y="0"/>
                </a:moveTo>
                <a:lnTo>
                  <a:pt x="8062841" y="0"/>
                </a:lnTo>
                <a:lnTo>
                  <a:pt x="8062841" y="6382596"/>
                </a:lnTo>
                <a:lnTo>
                  <a:pt x="0" y="638259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764459" y="9456249"/>
            <a:ext cx="30718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29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12732" y="9807943"/>
            <a:ext cx="3324088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</a:t>
            </a: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esults And Discussion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49139" y="1421997"/>
            <a:ext cx="5152257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Performance Analys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78031" y="2386995"/>
            <a:ext cx="7565969" cy="306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</a:t>
            </a:r>
            <a:r>
              <a:rPr lang="en-US" sz="28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erformanc</a:t>
            </a:r>
            <a:r>
              <a:rPr lang="en-US" sz="28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 was evaluated using accuracy, precision, recall, and F1-score.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hybrid MXBoost model consistently outperformed baseline models.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results indicate reliable and stable healthcare risk prediction.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19663" y="8681830"/>
            <a:ext cx="237318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Fig 10: </a:t>
            </a: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ROC</a:t>
            </a: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Curves 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6659885" y="1695396"/>
            <a:ext cx="9553869" cy="7562904"/>
          </a:xfrm>
          <a:custGeom>
            <a:avLst/>
            <a:gdLst/>
            <a:ahLst/>
            <a:cxnLst/>
            <a:rect r="r" b="b" t="t" l="l"/>
            <a:pathLst>
              <a:path h="7562904" w="9553869">
                <a:moveTo>
                  <a:pt x="0" y="0"/>
                </a:moveTo>
                <a:lnTo>
                  <a:pt x="9553869" y="0"/>
                </a:lnTo>
                <a:lnTo>
                  <a:pt x="9553869" y="7562904"/>
                </a:lnTo>
                <a:lnTo>
                  <a:pt x="0" y="756290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753016" y="9456249"/>
            <a:ext cx="33006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30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12732" y="9807943"/>
            <a:ext cx="3324088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</a:t>
            </a: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esults And Discussion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9139" y="1421997"/>
            <a:ext cx="5152257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Performance Analys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54274" y="9305436"/>
            <a:ext cx="354224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Fig 11: </a:t>
            </a: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Precision-Recall</a:t>
            </a: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Curve 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2255976" y="2373036"/>
            <a:ext cx="13311926" cy="6589403"/>
          </a:xfrm>
          <a:custGeom>
            <a:avLst/>
            <a:gdLst/>
            <a:ahLst/>
            <a:cxnLst/>
            <a:rect r="r" b="b" t="t" l="l"/>
            <a:pathLst>
              <a:path h="6589403" w="13311926">
                <a:moveTo>
                  <a:pt x="0" y="0"/>
                </a:moveTo>
                <a:lnTo>
                  <a:pt x="13311925" y="0"/>
                </a:lnTo>
                <a:lnTo>
                  <a:pt x="13311925" y="6589403"/>
                </a:lnTo>
                <a:lnTo>
                  <a:pt x="0" y="65894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796077" y="9456249"/>
            <a:ext cx="24394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31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12732" y="9807943"/>
            <a:ext cx="3324088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</a:t>
            </a: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esults And Discussion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9139" y="1421997"/>
            <a:ext cx="5373880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Digital Twin Simulat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30003" y="9069388"/>
            <a:ext cx="1442799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Fig 12: </a:t>
            </a: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Horizontal bar chart of feature importance from Random</a:t>
            </a: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Forest Real-time Digital Twin simulation for Patient P001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8" id="8"/>
          <p:cNvGraphicFramePr/>
          <p:nvPr/>
        </p:nvGraphicFramePr>
        <p:xfrm>
          <a:off x="1535098" y="2898459"/>
          <a:ext cx="9429750" cy="3771900"/>
        </p:xfrm>
        <a:graphic>
          <a:graphicData uri="http://schemas.openxmlformats.org/presentationml/2006/ole">
            <p:oleObj imgW="11315700" imgH="5651500" r:id="rId12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7767634" y="9456249"/>
            <a:ext cx="30083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32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12732" y="9807943"/>
            <a:ext cx="3324088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</a:t>
            </a: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esults And Discussion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9139" y="1421997"/>
            <a:ext cx="5373880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Digital Twin Simulat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62420" y="9154624"/>
            <a:ext cx="722471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Table 4.4:  Digital Twin Abnormal Reading Simulation Results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85521" y="1028700"/>
            <a:ext cx="6794009" cy="7266320"/>
          </a:xfrm>
          <a:custGeom>
            <a:avLst/>
            <a:gdLst/>
            <a:ahLst/>
            <a:cxnLst/>
            <a:rect r="r" b="b" t="t" l="l"/>
            <a:pathLst>
              <a:path h="7266320" w="6794009">
                <a:moveTo>
                  <a:pt x="0" y="0"/>
                </a:moveTo>
                <a:lnTo>
                  <a:pt x="6794010" y="0"/>
                </a:lnTo>
                <a:lnTo>
                  <a:pt x="6794010" y="7266320"/>
                </a:lnTo>
                <a:lnTo>
                  <a:pt x="0" y="72663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762806" y="9456249"/>
            <a:ext cx="31048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33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57589" y="4198259"/>
            <a:ext cx="3676518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473D34"/>
                </a:solidFill>
                <a:latin typeface="Archivo Black"/>
                <a:ea typeface="Archivo Black"/>
                <a:cs typeface="Archivo Black"/>
                <a:sym typeface="Archivo Black"/>
              </a:rPr>
              <a:t>Co</a:t>
            </a:r>
            <a:r>
              <a:rPr lang="en-US" sz="4800">
                <a:solidFill>
                  <a:srgbClr val="473D34"/>
                </a:solidFill>
                <a:latin typeface="Archivo Black"/>
                <a:ea typeface="Archivo Black"/>
                <a:cs typeface="Archivo Black"/>
                <a:sym typeface="Archivo Black"/>
              </a:rPr>
              <a:t>nclusion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372029"/>
            <a:ext cx="16574401" cy="6743685"/>
            <a:chOff x="0" y="0"/>
            <a:chExt cx="4990760" cy="20306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90760" cy="2030608"/>
            </a:xfrm>
            <a:custGeom>
              <a:avLst/>
              <a:gdLst/>
              <a:ahLst/>
              <a:cxnLst/>
              <a:rect r="r" b="b" t="t" l="l"/>
              <a:pathLst>
                <a:path h="2030608" w="4990760">
                  <a:moveTo>
                    <a:pt x="20085" y="0"/>
                  </a:moveTo>
                  <a:lnTo>
                    <a:pt x="4970675" y="0"/>
                  </a:lnTo>
                  <a:cubicBezTo>
                    <a:pt x="4976002" y="0"/>
                    <a:pt x="4981111" y="2116"/>
                    <a:pt x="4984878" y="5883"/>
                  </a:cubicBezTo>
                  <a:cubicBezTo>
                    <a:pt x="4988644" y="9650"/>
                    <a:pt x="4990760" y="14758"/>
                    <a:pt x="4990760" y="20085"/>
                  </a:cubicBezTo>
                  <a:lnTo>
                    <a:pt x="4990760" y="2010523"/>
                  </a:lnTo>
                  <a:cubicBezTo>
                    <a:pt x="4990760" y="2015850"/>
                    <a:pt x="4988644" y="2020959"/>
                    <a:pt x="4984878" y="2024725"/>
                  </a:cubicBezTo>
                  <a:cubicBezTo>
                    <a:pt x="4981111" y="2028492"/>
                    <a:pt x="4976002" y="2030608"/>
                    <a:pt x="4970675" y="2030608"/>
                  </a:cubicBezTo>
                  <a:lnTo>
                    <a:pt x="20085" y="2030608"/>
                  </a:lnTo>
                  <a:cubicBezTo>
                    <a:pt x="14758" y="2030608"/>
                    <a:pt x="9650" y="2028492"/>
                    <a:pt x="5883" y="2024725"/>
                  </a:cubicBezTo>
                  <a:cubicBezTo>
                    <a:pt x="2116" y="2020959"/>
                    <a:pt x="0" y="2015850"/>
                    <a:pt x="0" y="2010523"/>
                  </a:cubicBezTo>
                  <a:lnTo>
                    <a:pt x="0" y="20085"/>
                  </a:lnTo>
                  <a:cubicBezTo>
                    <a:pt x="0" y="14758"/>
                    <a:pt x="2116" y="9650"/>
                    <a:pt x="5883" y="5883"/>
                  </a:cubicBezTo>
                  <a:cubicBezTo>
                    <a:pt x="9650" y="2116"/>
                    <a:pt x="14758" y="0"/>
                    <a:pt x="20085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D9D9D9"/>
              </a:solidFill>
              <a:prstDash val="dash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990760" cy="2087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343608" y="2683509"/>
            <a:ext cx="425352" cy="425352"/>
          </a:xfrm>
          <a:custGeom>
            <a:avLst/>
            <a:gdLst/>
            <a:ahLst/>
            <a:cxnLst/>
            <a:rect r="r" b="b" t="t" l="l"/>
            <a:pathLst>
              <a:path h="425352" w="425352">
                <a:moveTo>
                  <a:pt x="0" y="0"/>
                </a:moveTo>
                <a:lnTo>
                  <a:pt x="425352" y="0"/>
                </a:lnTo>
                <a:lnTo>
                  <a:pt x="425352" y="425352"/>
                </a:lnTo>
                <a:lnTo>
                  <a:pt x="0" y="4253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53889" y="4199981"/>
            <a:ext cx="425352" cy="425352"/>
          </a:xfrm>
          <a:custGeom>
            <a:avLst/>
            <a:gdLst/>
            <a:ahLst/>
            <a:cxnLst/>
            <a:rect r="r" b="b" t="t" l="l"/>
            <a:pathLst>
              <a:path h="425352" w="425352">
                <a:moveTo>
                  <a:pt x="0" y="0"/>
                </a:moveTo>
                <a:lnTo>
                  <a:pt x="425352" y="0"/>
                </a:lnTo>
                <a:lnTo>
                  <a:pt x="425352" y="425352"/>
                </a:lnTo>
                <a:lnTo>
                  <a:pt x="0" y="4253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63414" y="5211120"/>
            <a:ext cx="425352" cy="425352"/>
          </a:xfrm>
          <a:custGeom>
            <a:avLst/>
            <a:gdLst/>
            <a:ahLst/>
            <a:cxnLst/>
            <a:rect r="r" b="b" t="t" l="l"/>
            <a:pathLst>
              <a:path h="425352" w="425352">
                <a:moveTo>
                  <a:pt x="0" y="0"/>
                </a:moveTo>
                <a:lnTo>
                  <a:pt x="425352" y="0"/>
                </a:lnTo>
                <a:lnTo>
                  <a:pt x="425352" y="425352"/>
                </a:lnTo>
                <a:lnTo>
                  <a:pt x="0" y="4253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72939" y="6246072"/>
            <a:ext cx="425352" cy="425352"/>
          </a:xfrm>
          <a:custGeom>
            <a:avLst/>
            <a:gdLst/>
            <a:ahLst/>
            <a:cxnLst/>
            <a:rect r="r" b="b" t="t" l="l"/>
            <a:pathLst>
              <a:path h="425352" w="425352">
                <a:moveTo>
                  <a:pt x="0" y="0"/>
                </a:moveTo>
                <a:lnTo>
                  <a:pt x="425352" y="0"/>
                </a:lnTo>
                <a:lnTo>
                  <a:pt x="425352" y="425352"/>
                </a:lnTo>
                <a:lnTo>
                  <a:pt x="0" y="4253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82464" y="7776324"/>
            <a:ext cx="425352" cy="425352"/>
          </a:xfrm>
          <a:custGeom>
            <a:avLst/>
            <a:gdLst/>
            <a:ahLst/>
            <a:cxnLst/>
            <a:rect r="r" b="b" t="t" l="l"/>
            <a:pathLst>
              <a:path h="425352" w="425352">
                <a:moveTo>
                  <a:pt x="0" y="0"/>
                </a:moveTo>
                <a:lnTo>
                  <a:pt x="425352" y="0"/>
                </a:lnTo>
                <a:lnTo>
                  <a:pt x="425352" y="425352"/>
                </a:lnTo>
                <a:lnTo>
                  <a:pt x="0" y="4253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68960" y="2588259"/>
            <a:ext cx="15440569" cy="6670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proposed f</a:t>
            </a:r>
            <a:r>
              <a:rPr lang="en-US" sz="28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ederated digital twin fram</a:t>
            </a:r>
            <a:r>
              <a:rPr lang="en-US" sz="28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ework successfully enables personalized healthcare monitoring.</a:t>
            </a:r>
          </a:p>
          <a:p>
            <a:pPr algn="l">
              <a:lnSpc>
                <a:spcPts val="4059"/>
              </a:lnSpc>
            </a:pP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Integration of m</a:t>
            </a:r>
            <a:r>
              <a:rPr lang="en-US" sz="28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ultim</a:t>
            </a:r>
            <a:r>
              <a:rPr lang="en-US" sz="28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odal vital sign and lifestyle data improves health risk prediction accuracy.</a:t>
            </a:r>
          </a:p>
          <a:p>
            <a:pPr algn="l">
              <a:lnSpc>
                <a:spcPts val="4059"/>
              </a:lnSpc>
            </a:pP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Federated learning ensures patient data privacy by eliminating raw data sharing.</a:t>
            </a:r>
          </a:p>
          <a:p>
            <a:pPr algn="l">
              <a:lnSpc>
                <a:spcPts val="4059"/>
              </a:lnSpc>
            </a:pP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hybrid MXBoost model achieves high predictive performance with reliable anomaly detection.</a:t>
            </a:r>
          </a:p>
          <a:p>
            <a:pPr algn="l">
              <a:lnSpc>
                <a:spcPts val="4059"/>
              </a:lnSpc>
            </a:pP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Experimental results demonstrate the scalability and effectiveness of the proposed system for healthcare applications.</a:t>
            </a:r>
          </a:p>
          <a:p>
            <a:pPr algn="l">
              <a:lnSpc>
                <a:spcPts val="405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7754339" y="9456249"/>
            <a:ext cx="32742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34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112732" y="9807943"/>
            <a:ext cx="2062537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Conclusion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9139" y="1411063"/>
            <a:ext cx="6085272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Summary of Key Find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ings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21786" y="2195051"/>
            <a:ext cx="15469771" cy="7600922"/>
            <a:chOff x="0" y="0"/>
            <a:chExt cx="4658143" cy="22887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58143" cy="2288733"/>
            </a:xfrm>
            <a:custGeom>
              <a:avLst/>
              <a:gdLst/>
              <a:ahLst/>
              <a:cxnLst/>
              <a:rect r="r" b="b" t="t" l="l"/>
              <a:pathLst>
                <a:path h="2288733" w="4658143">
                  <a:moveTo>
                    <a:pt x="21520" y="0"/>
                  </a:moveTo>
                  <a:lnTo>
                    <a:pt x="4636623" y="0"/>
                  </a:lnTo>
                  <a:cubicBezTo>
                    <a:pt x="4642331" y="0"/>
                    <a:pt x="4647804" y="2267"/>
                    <a:pt x="4651840" y="6303"/>
                  </a:cubicBezTo>
                  <a:cubicBezTo>
                    <a:pt x="4655876" y="10339"/>
                    <a:pt x="4658143" y="15812"/>
                    <a:pt x="4658143" y="21520"/>
                  </a:cubicBezTo>
                  <a:lnTo>
                    <a:pt x="4658143" y="2267214"/>
                  </a:lnTo>
                  <a:cubicBezTo>
                    <a:pt x="4658143" y="2272921"/>
                    <a:pt x="4655876" y="2278395"/>
                    <a:pt x="4651840" y="2282430"/>
                  </a:cubicBezTo>
                  <a:cubicBezTo>
                    <a:pt x="4647804" y="2286466"/>
                    <a:pt x="4642331" y="2288733"/>
                    <a:pt x="4636623" y="2288733"/>
                  </a:cubicBezTo>
                  <a:lnTo>
                    <a:pt x="21520" y="2288733"/>
                  </a:lnTo>
                  <a:cubicBezTo>
                    <a:pt x="15812" y="2288733"/>
                    <a:pt x="10339" y="2286466"/>
                    <a:pt x="6303" y="2282430"/>
                  </a:cubicBezTo>
                  <a:cubicBezTo>
                    <a:pt x="2267" y="2278395"/>
                    <a:pt x="0" y="2272921"/>
                    <a:pt x="0" y="2267214"/>
                  </a:cubicBezTo>
                  <a:lnTo>
                    <a:pt x="0" y="21520"/>
                  </a:lnTo>
                  <a:cubicBezTo>
                    <a:pt x="0" y="15812"/>
                    <a:pt x="2267" y="10339"/>
                    <a:pt x="6303" y="6303"/>
                  </a:cubicBezTo>
                  <a:cubicBezTo>
                    <a:pt x="10339" y="2267"/>
                    <a:pt x="15812" y="0"/>
                    <a:pt x="21520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D9D9D9"/>
              </a:solidFill>
              <a:prstDash val="dash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658143" cy="2345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7764459" y="9456249"/>
            <a:ext cx="30718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35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12732" y="9807943"/>
            <a:ext cx="2062537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Conclusion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9139" y="1411063"/>
            <a:ext cx="3201286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Contr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ibutions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72055" y="2384571"/>
            <a:ext cx="15081501" cy="718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✓ </a:t>
            </a:r>
            <a:r>
              <a:rPr lang="en-US" b="true" sz="29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Framework Design: </a:t>
            </a: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Proposed a secure and personalized federated digital twin framework for healthcare monitoring.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✓ </a:t>
            </a:r>
            <a:r>
              <a:rPr lang="en-US" b="true" sz="29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Multimodal Integration</a:t>
            </a: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: Integrated vital sign and lifestyle data to enable patient-centric health analysis.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✓ </a:t>
            </a:r>
            <a:r>
              <a:rPr lang="en-US" b="true" sz="29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Privacy Preservation</a:t>
            </a: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: Applied federated learning to ensure data privacy without sharing raw patient data.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✓ </a:t>
            </a:r>
            <a:r>
              <a:rPr lang="en-US" b="true" sz="29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Hybrid AI Model</a:t>
            </a: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: Developed a hybrid MXBoost model to achieve accurate health risk prediction.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✓ </a:t>
            </a:r>
            <a:r>
              <a:rPr lang="en-US" b="true" sz="29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System Evaluation</a:t>
            </a: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: Validated the proposed system using real patient data and standard machine learning metrics.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51738" y="2617386"/>
            <a:ext cx="14446734" cy="6019928"/>
            <a:chOff x="0" y="0"/>
            <a:chExt cx="4350093" cy="18126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50093" cy="1812676"/>
            </a:xfrm>
            <a:custGeom>
              <a:avLst/>
              <a:gdLst/>
              <a:ahLst/>
              <a:cxnLst/>
              <a:rect r="r" b="b" t="t" l="l"/>
              <a:pathLst>
                <a:path h="1812676" w="4350093">
                  <a:moveTo>
                    <a:pt x="23043" y="0"/>
                  </a:moveTo>
                  <a:lnTo>
                    <a:pt x="4327049" y="0"/>
                  </a:lnTo>
                  <a:cubicBezTo>
                    <a:pt x="4333161" y="0"/>
                    <a:pt x="4339022" y="2428"/>
                    <a:pt x="4343344" y="6749"/>
                  </a:cubicBezTo>
                  <a:cubicBezTo>
                    <a:pt x="4347665" y="11071"/>
                    <a:pt x="4350093" y="16932"/>
                    <a:pt x="4350093" y="23043"/>
                  </a:cubicBezTo>
                  <a:lnTo>
                    <a:pt x="4350093" y="1789633"/>
                  </a:lnTo>
                  <a:cubicBezTo>
                    <a:pt x="4350093" y="1795744"/>
                    <a:pt x="4347665" y="1801605"/>
                    <a:pt x="4343344" y="1805927"/>
                  </a:cubicBezTo>
                  <a:cubicBezTo>
                    <a:pt x="4339022" y="1810248"/>
                    <a:pt x="4333161" y="1812676"/>
                    <a:pt x="4327049" y="1812676"/>
                  </a:cubicBezTo>
                  <a:lnTo>
                    <a:pt x="23043" y="1812676"/>
                  </a:lnTo>
                  <a:cubicBezTo>
                    <a:pt x="16932" y="1812676"/>
                    <a:pt x="11071" y="1810248"/>
                    <a:pt x="6749" y="1805927"/>
                  </a:cubicBezTo>
                  <a:cubicBezTo>
                    <a:pt x="2428" y="1801605"/>
                    <a:pt x="0" y="1795744"/>
                    <a:pt x="0" y="1789633"/>
                  </a:cubicBezTo>
                  <a:lnTo>
                    <a:pt x="0" y="23043"/>
                  </a:lnTo>
                  <a:cubicBezTo>
                    <a:pt x="0" y="16932"/>
                    <a:pt x="2428" y="11071"/>
                    <a:pt x="6749" y="6749"/>
                  </a:cubicBezTo>
                  <a:cubicBezTo>
                    <a:pt x="11071" y="2428"/>
                    <a:pt x="16932" y="0"/>
                    <a:pt x="2304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D9D9D9"/>
              </a:solidFill>
              <a:prstDash val="dash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350093" cy="1869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7759300" y="9456249"/>
            <a:ext cx="31750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36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12732" y="9807943"/>
            <a:ext cx="2062537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Conclusion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8664" y="1411063"/>
            <a:ext cx="6537504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Limit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ations and Future Work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88460" y="2801736"/>
            <a:ext cx="2305566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Limitations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95045" y="3445581"/>
            <a:ext cx="13557567" cy="456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✓ The system was evaluated using limited publicly available healthcare datasets.</a:t>
            </a:r>
          </a:p>
          <a:p>
            <a:pPr algn="just">
              <a:lnSpc>
                <a:spcPts val="3622"/>
              </a:lnSpc>
              <a:spcBef>
                <a:spcPct val="0"/>
              </a:spcBef>
            </a:pPr>
          </a:p>
          <a:p>
            <a:pPr algn="l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✓ Real-time deployment with live IoT sensor streams was not fully implemented.</a:t>
            </a:r>
          </a:p>
          <a:p>
            <a:pPr algn="just">
              <a:lnSpc>
                <a:spcPts val="3622"/>
              </a:lnSpc>
              <a:spcBef>
                <a:spcPct val="0"/>
              </a:spcBef>
            </a:pPr>
          </a:p>
          <a:p>
            <a:pPr algn="just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✓ The federated learning setup was simulated, not tested across multiple real institutions.</a:t>
            </a:r>
          </a:p>
          <a:p>
            <a:pPr algn="just">
              <a:lnSpc>
                <a:spcPts val="3622"/>
              </a:lnSpc>
              <a:spcBef>
                <a:spcPct val="0"/>
              </a:spcBef>
            </a:pPr>
          </a:p>
          <a:p>
            <a:pPr algn="just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✓ Explainability of hybrid AI (MXBoost) decisions is still limited for clinical interpretation.</a:t>
            </a:r>
          </a:p>
          <a:p>
            <a:pPr algn="just">
              <a:lnSpc>
                <a:spcPts val="3622"/>
              </a:lnSpc>
              <a:spcBef>
                <a:spcPct val="0"/>
              </a:spcBef>
            </a:pPr>
          </a:p>
          <a:p>
            <a:pPr algn="just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✓ Communication and computational overhead in large-scale federated environments were not extensively analyzed.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50956" y="2361022"/>
            <a:ext cx="15808344" cy="5985898"/>
            <a:chOff x="0" y="0"/>
            <a:chExt cx="4760091" cy="18024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60091" cy="1802429"/>
            </a:xfrm>
            <a:custGeom>
              <a:avLst/>
              <a:gdLst/>
              <a:ahLst/>
              <a:cxnLst/>
              <a:rect r="r" b="b" t="t" l="l"/>
              <a:pathLst>
                <a:path h="1802429" w="4760091">
                  <a:moveTo>
                    <a:pt x="21059" y="0"/>
                  </a:moveTo>
                  <a:lnTo>
                    <a:pt x="4739032" y="0"/>
                  </a:lnTo>
                  <a:cubicBezTo>
                    <a:pt x="4750663" y="0"/>
                    <a:pt x="4760091" y="9428"/>
                    <a:pt x="4760091" y="21059"/>
                  </a:cubicBezTo>
                  <a:lnTo>
                    <a:pt x="4760091" y="1781371"/>
                  </a:lnTo>
                  <a:cubicBezTo>
                    <a:pt x="4760091" y="1786956"/>
                    <a:pt x="4757872" y="1792312"/>
                    <a:pt x="4753923" y="1796261"/>
                  </a:cubicBezTo>
                  <a:cubicBezTo>
                    <a:pt x="4749974" y="1800210"/>
                    <a:pt x="4744618" y="1802429"/>
                    <a:pt x="4739032" y="1802429"/>
                  </a:cubicBezTo>
                  <a:lnTo>
                    <a:pt x="21059" y="1802429"/>
                  </a:lnTo>
                  <a:cubicBezTo>
                    <a:pt x="9428" y="1802429"/>
                    <a:pt x="0" y="1793001"/>
                    <a:pt x="0" y="1781371"/>
                  </a:cubicBezTo>
                  <a:lnTo>
                    <a:pt x="0" y="21059"/>
                  </a:lnTo>
                  <a:cubicBezTo>
                    <a:pt x="0" y="15474"/>
                    <a:pt x="2219" y="10117"/>
                    <a:pt x="6168" y="6168"/>
                  </a:cubicBezTo>
                  <a:cubicBezTo>
                    <a:pt x="10117" y="2219"/>
                    <a:pt x="15474" y="0"/>
                    <a:pt x="2105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D9D9D9"/>
              </a:solidFill>
              <a:prstDash val="dash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760091" cy="1859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7766377" y="9456249"/>
            <a:ext cx="30334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37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12732" y="9807943"/>
            <a:ext cx="2062537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Conclusion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0956" y="1411063"/>
            <a:ext cx="6537504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Limit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ations and Future Work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88460" y="2527824"/>
            <a:ext cx="2305566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Fu</a:t>
            </a:r>
            <a:r>
              <a:rPr lang="en-US" b="true" sz="29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ture Work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68960" y="2968514"/>
            <a:ext cx="15234304" cy="5641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✓ Apply the proposed framework to real-time IoT and wearable sensor data.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✓ Validate the system using large-scale clinical datasets across multiple healthcare institutions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✓ Integrate deep learning models such as LSTM or Transformers for temporal health analysis.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✓ Enhance model explainability using AI techniques like SHAP or LIME.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✓ Optimize federated learning for lower latency, better scalability, and stronger privacy guarantees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7759631" y="9456249"/>
            <a:ext cx="31683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38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12732" y="9807943"/>
            <a:ext cx="2062537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9139" y="1411063"/>
            <a:ext cx="2549401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Conclus</a:t>
            </a: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3805" y="2569616"/>
            <a:ext cx="16574401" cy="5641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This thesis presents a secure and personalized digital twin–based healthcare monitoring framework using IoT and hybrid AI techniques.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proposed system addresses key challenges such as data privacy, limited personalization, and fragmented healthcare data through federated learning and multimodal data integration.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Experimental evaluation demonstrates that the hybrid MXBoost model achieves high prediction accuracy while enabling real-time health monitoring and early anomaly detection.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Overall, the proposed framework shows strong potential for scalable and privacy-preserving healthcare applications.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5059">
            <a:off x="-4054941" y="5549152"/>
            <a:ext cx="8857666" cy="7418295"/>
          </a:xfrm>
          <a:custGeom>
            <a:avLst/>
            <a:gdLst/>
            <a:ahLst/>
            <a:cxnLst/>
            <a:rect r="r" b="b" t="t" l="l"/>
            <a:pathLst>
              <a:path h="7418295" w="8857666">
                <a:moveTo>
                  <a:pt x="0" y="0"/>
                </a:moveTo>
                <a:lnTo>
                  <a:pt x="8857666" y="0"/>
                </a:lnTo>
                <a:lnTo>
                  <a:pt x="8857666" y="7418296"/>
                </a:lnTo>
                <a:lnTo>
                  <a:pt x="0" y="7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98471" y="-419785"/>
            <a:ext cx="2209259" cy="2209259"/>
          </a:xfrm>
          <a:custGeom>
            <a:avLst/>
            <a:gdLst/>
            <a:ahLst/>
            <a:cxnLst/>
            <a:rect r="r" b="b" t="t" l="l"/>
            <a:pathLst>
              <a:path h="2209259" w="2209259">
                <a:moveTo>
                  <a:pt x="0" y="0"/>
                </a:moveTo>
                <a:lnTo>
                  <a:pt x="2209259" y="0"/>
                </a:lnTo>
                <a:lnTo>
                  <a:pt x="2209259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68960" y="382298"/>
            <a:ext cx="2379545" cy="924986"/>
          </a:xfrm>
          <a:custGeom>
            <a:avLst/>
            <a:gdLst/>
            <a:ahLst/>
            <a:cxnLst/>
            <a:rect r="r" b="b" t="t" l="l"/>
            <a:pathLst>
              <a:path h="924986" w="2379545">
                <a:moveTo>
                  <a:pt x="0" y="0"/>
                </a:moveTo>
                <a:lnTo>
                  <a:pt x="2379545" y="0"/>
                </a:lnTo>
                <a:lnTo>
                  <a:pt x="2379545" y="924986"/>
                </a:lnTo>
                <a:lnTo>
                  <a:pt x="0" y="924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52612" y="307094"/>
            <a:ext cx="1106688" cy="1075394"/>
          </a:xfrm>
          <a:custGeom>
            <a:avLst/>
            <a:gdLst/>
            <a:ahLst/>
            <a:cxnLst/>
            <a:rect r="r" b="b" t="t" l="l"/>
            <a:pathLst>
              <a:path h="1075394" w="1106688">
                <a:moveTo>
                  <a:pt x="0" y="0"/>
                </a:moveTo>
                <a:lnTo>
                  <a:pt x="1106688" y="0"/>
                </a:lnTo>
                <a:lnTo>
                  <a:pt x="1106688" y="1075394"/>
                </a:lnTo>
                <a:lnTo>
                  <a:pt x="0" y="1075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1145942" y="-1117627"/>
            <a:ext cx="2567741" cy="2282080"/>
          </a:xfrm>
          <a:custGeom>
            <a:avLst/>
            <a:gdLst/>
            <a:ahLst/>
            <a:cxnLst/>
            <a:rect r="r" b="b" t="t" l="l"/>
            <a:pathLst>
              <a:path h="2282080" w="2567741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449139" y="1392013"/>
            <a:ext cx="15389722" cy="0"/>
          </a:xfrm>
          <a:prstGeom prst="line">
            <a:avLst/>
          </a:prstGeom>
          <a:ln cap="flat" w="19050">
            <a:solidFill>
              <a:srgbClr val="473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7760887" y="9456249"/>
            <a:ext cx="31432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39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12732" y="9807943"/>
            <a:ext cx="2062537" cy="2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730" b="true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References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1949" y="1411063"/>
            <a:ext cx="2721881" cy="6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References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68960" y="2491983"/>
            <a:ext cx="14710770" cy="6551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[1] Liu et al., A Revolution of Personalized Healthcare:</a:t>
            </a:r>
            <a:r>
              <a:rPr lang="en-US" sz="2324">
                <a:solidFill>
                  <a:srgbClr val="007B80"/>
                </a:solidFill>
                <a:latin typeface="Arimo"/>
                <a:ea typeface="Arimo"/>
                <a:cs typeface="Arimo"/>
                <a:sym typeface="Arimo"/>
              </a:rPr>
              <a:t> Enabling Human Digital Twin with Mobile AIGC</a:t>
            </a:r>
            <a:r>
              <a:rPr lang="en-US" sz="23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IEEE Internet of Things Journal, 2024.</a:t>
            </a:r>
          </a:p>
          <a:p>
            <a:pPr algn="l">
              <a:lnSpc>
                <a:spcPts val="3254"/>
              </a:lnSpc>
            </a:pPr>
            <a:r>
              <a:rPr lang="en-US" sz="23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[2] Sun et al., Digital Twins for Cyber-Physical Healthcare Systems:</a:t>
            </a:r>
            <a:r>
              <a:rPr lang="en-US" sz="2324">
                <a:solidFill>
                  <a:srgbClr val="007B80"/>
                </a:solidFill>
                <a:latin typeface="Arimo"/>
                <a:ea typeface="Arimo"/>
                <a:cs typeface="Arimo"/>
                <a:sym typeface="Arimo"/>
              </a:rPr>
              <a:t> Challenges and Perspectives</a:t>
            </a:r>
            <a:r>
              <a:rPr lang="en-US" sz="23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IEEE Transactions on Industrial Informatics, 2024.</a:t>
            </a:r>
          </a:p>
          <a:p>
            <a:pPr algn="l">
              <a:lnSpc>
                <a:spcPts val="3254"/>
              </a:lnSpc>
            </a:pPr>
            <a:r>
              <a:rPr lang="en-US" sz="23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[3] Mehmood et al.</a:t>
            </a:r>
            <a:r>
              <a:rPr lang="en-US" sz="2324">
                <a:solidFill>
                  <a:srgbClr val="007B80"/>
                </a:solidFill>
                <a:latin typeface="Arimo"/>
                <a:ea typeface="Arimo"/>
                <a:cs typeface="Arimo"/>
                <a:sym typeface="Arimo"/>
              </a:rPr>
              <a:t>, A Digital Twin Framework for Real-Time Healthcare Monitoring, Journal of Intelligent &amp; Fuzzy Systems, 2025.</a:t>
            </a:r>
          </a:p>
          <a:p>
            <a:pPr algn="l">
              <a:lnSpc>
                <a:spcPts val="3254"/>
              </a:lnSpc>
            </a:pPr>
            <a:r>
              <a:rPr lang="en-US" sz="23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[4] Shan et al., CFL-IDS: </a:t>
            </a:r>
            <a:r>
              <a:rPr lang="en-US" sz="2324">
                <a:solidFill>
                  <a:srgbClr val="007B80"/>
                </a:solidFill>
                <a:latin typeface="Arimo"/>
                <a:ea typeface="Arimo"/>
                <a:cs typeface="Arimo"/>
                <a:sym typeface="Arimo"/>
              </a:rPr>
              <a:t>Clustered Federated Learning Framework for IIoT, IEEE Internet of Things Journal, 2024</a:t>
            </a:r>
            <a:r>
              <a:rPr lang="en-US" sz="2324" u="none">
                <a:solidFill>
                  <a:srgbClr val="007B8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3254"/>
              </a:lnSpc>
            </a:pPr>
            <a:r>
              <a:rPr lang="en-US" sz="23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[5] Bhavsar et al., FL-IDS: </a:t>
            </a:r>
            <a:r>
              <a:rPr lang="en-US" sz="2324">
                <a:solidFill>
                  <a:srgbClr val="007B80"/>
                </a:solidFill>
                <a:latin typeface="Arimo"/>
                <a:ea typeface="Arimo"/>
                <a:cs typeface="Arimo"/>
                <a:sym typeface="Arimo"/>
              </a:rPr>
              <a:t>Federated Learning-Based IDS Using Edge Devices, IEEE Access, </a:t>
            </a:r>
            <a:r>
              <a:rPr lang="en-US" sz="2324" u="none">
                <a:solidFill>
                  <a:srgbClr val="007B80"/>
                </a:solidFill>
                <a:latin typeface="Arimo"/>
                <a:ea typeface="Arimo"/>
                <a:cs typeface="Arimo"/>
                <a:sym typeface="Arimo"/>
              </a:rPr>
              <a:t>2024.</a:t>
            </a:r>
          </a:p>
          <a:p>
            <a:pPr algn="l">
              <a:lnSpc>
                <a:spcPts val="3254"/>
              </a:lnSpc>
            </a:pPr>
            <a:r>
              <a:rPr lang="en-US" sz="23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[6] Arafeh et al.,</a:t>
            </a:r>
            <a:r>
              <a:rPr lang="en-US" sz="2324">
                <a:solidFill>
                  <a:srgbClr val="007B80"/>
                </a:solidFill>
                <a:latin typeface="Arimo"/>
                <a:ea typeface="Arimo"/>
                <a:cs typeface="Arimo"/>
                <a:sym typeface="Arimo"/>
              </a:rPr>
              <a:t> Cluster-Based Split Federated Learning for Non-IID IoT Data, CSNet Conference</a:t>
            </a:r>
            <a:r>
              <a:rPr lang="en-US" sz="23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2024.</a:t>
            </a:r>
          </a:p>
          <a:p>
            <a:pPr algn="l">
              <a:lnSpc>
                <a:spcPts val="3254"/>
              </a:lnSpc>
            </a:pPr>
            <a:r>
              <a:rPr lang="en-US" sz="23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[7] Rieke et al.,</a:t>
            </a:r>
            <a:r>
              <a:rPr lang="en-US" sz="2324">
                <a:solidFill>
                  <a:srgbClr val="007B80"/>
                </a:solidFill>
                <a:latin typeface="Arimo"/>
                <a:ea typeface="Arimo"/>
                <a:cs typeface="Arimo"/>
                <a:sym typeface="Arimo"/>
              </a:rPr>
              <a:t> The Future of Digital Health with Federated Learning, Nature Machine Intelligence</a:t>
            </a:r>
            <a:r>
              <a:rPr lang="en-US" sz="23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2025.</a:t>
            </a:r>
          </a:p>
          <a:p>
            <a:pPr algn="l">
              <a:lnSpc>
                <a:spcPts val="3254"/>
              </a:lnSpc>
            </a:pPr>
            <a:r>
              <a:rPr lang="en-US" sz="23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[8] Li et al., Federated Learning: </a:t>
            </a:r>
            <a:r>
              <a:rPr lang="en-US" sz="2324">
                <a:solidFill>
                  <a:srgbClr val="007B80"/>
                </a:solidFill>
                <a:latin typeface="Arimo"/>
                <a:ea typeface="Arimo"/>
                <a:cs typeface="Arimo"/>
                <a:sym typeface="Arimo"/>
              </a:rPr>
              <a:t>Challenges, Methods, and Applications, IEEE Signal Processing Magazine</a:t>
            </a:r>
            <a:r>
              <a:rPr lang="en-US" sz="23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2024.</a:t>
            </a:r>
          </a:p>
          <a:p>
            <a:pPr algn="l">
              <a:lnSpc>
                <a:spcPts val="3254"/>
              </a:lnSpc>
            </a:pPr>
            <a:r>
              <a:rPr lang="en-US" sz="23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[9] Zhang et al.,</a:t>
            </a:r>
            <a:r>
              <a:rPr lang="en-US" sz="2324">
                <a:solidFill>
                  <a:srgbClr val="007B80"/>
                </a:solidFill>
                <a:latin typeface="Arimo"/>
                <a:ea typeface="Arimo"/>
                <a:cs typeface="Arimo"/>
                <a:sym typeface="Arimo"/>
              </a:rPr>
              <a:t> Digital Twins for Personalized Medicine, npj Digital Medicine</a:t>
            </a:r>
            <a:r>
              <a:rPr lang="en-US" sz="23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2023.</a:t>
            </a:r>
          </a:p>
          <a:p>
            <a:pPr algn="l">
              <a:lnSpc>
                <a:spcPts val="3254"/>
              </a:lnSpc>
            </a:pPr>
            <a:r>
              <a:rPr lang="en-US" sz="23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[10] Kaggle, </a:t>
            </a:r>
            <a:r>
              <a:rPr lang="en-US" sz="2324">
                <a:solidFill>
                  <a:srgbClr val="007B80"/>
                </a:solidFill>
                <a:latin typeface="Arimo"/>
                <a:ea typeface="Arimo"/>
                <a:cs typeface="Arimo"/>
                <a:sym typeface="Arimo"/>
              </a:rPr>
              <a:t>Human Vital Signs Dataset, Kaggle Datasets, 2024.</a:t>
            </a:r>
          </a:p>
          <a:p>
            <a:pPr algn="l">
              <a:lnSpc>
                <a:spcPts val="3254"/>
              </a:lnSpc>
            </a:pP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57804" y="2132894"/>
            <a:ext cx="7308391" cy="6495332"/>
          </a:xfrm>
          <a:custGeom>
            <a:avLst/>
            <a:gdLst/>
            <a:ahLst/>
            <a:cxnLst/>
            <a:rect r="r" b="b" t="t" l="l"/>
            <a:pathLst>
              <a:path h="6495332" w="7308391">
                <a:moveTo>
                  <a:pt x="0" y="0"/>
                </a:moveTo>
                <a:lnTo>
                  <a:pt x="7308391" y="0"/>
                </a:lnTo>
                <a:lnTo>
                  <a:pt x="7308391" y="6495332"/>
                </a:lnTo>
                <a:lnTo>
                  <a:pt x="0" y="64953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DAG_VOaYJUE</dc:identifier>
  <dcterms:modified xsi:type="dcterms:W3CDTF">2011-08-01T06:04:30Z</dcterms:modified>
  <cp:revision>1</cp:revision>
  <dc:title>Thesis Final </dc:title>
</cp:coreProperties>
</file>